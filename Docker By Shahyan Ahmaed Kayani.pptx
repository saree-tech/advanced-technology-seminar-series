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b1278e0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cb1278e0d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b1278e0dd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cb1278e0dd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25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31.png"/><Relationship Id="rId9" Type="http://schemas.openxmlformats.org/officeDocument/2006/relationships/image" Target="../media/image18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24.png"/><Relationship Id="rId8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31.png"/><Relationship Id="rId9" Type="http://schemas.openxmlformats.org/officeDocument/2006/relationships/image" Target="../media/image19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34.png"/><Relationship Id="rId8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32.png"/><Relationship Id="rId5" Type="http://schemas.openxmlformats.org/officeDocument/2006/relationships/image" Target="../media/image35.png"/><Relationship Id="rId6" Type="http://schemas.openxmlformats.org/officeDocument/2006/relationships/image" Target="../media/image37.png"/><Relationship Id="rId7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3237607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Modern Software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2496ED"/>
                </a:solidFill>
                <a:latin typeface="Poppins"/>
                <a:ea typeface="Poppins"/>
                <a:cs typeface="Poppins"/>
                <a:sym typeface="Poppins"/>
              </a:rPr>
              <a:t>Logistics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5323582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496ED"/>
                </a:solidFill>
                <a:latin typeface="Lato"/>
                <a:ea typeface="Lato"/>
                <a:cs typeface="Lato"/>
                <a:sym typeface="Lato"/>
              </a:rPr>
              <a:t>BUILD • SHIP • RUN • ANYWHERE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8750" y="1113532"/>
            <a:ext cx="17145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2804600" y="5906850"/>
            <a:ext cx="81162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Presented By: Shahyan Ahmed Kiani</a:t>
            </a:r>
            <a:endParaRPr b="1" sz="3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13" y="1908976"/>
            <a:ext cx="5286375" cy="353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2161729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Platform for Containers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05800" y="2746379"/>
            <a:ext cx="5286300" cy="1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Docker is an open-source platform that automates the deployment of applications inside lightweight, portable containers.</a:t>
            </a:r>
            <a:endParaRPr sz="1700"/>
          </a:p>
        </p:txBody>
      </p:sp>
      <p:sp>
        <p:nvSpPr>
          <p:cNvPr id="97" name="Google Shape;97;p14"/>
          <p:cNvSpPr txBox="1"/>
          <p:nvPr/>
        </p:nvSpPr>
        <p:spPr>
          <a:xfrm>
            <a:off x="505800" y="4102325"/>
            <a:ext cx="5286300" cy="1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It eliminates the </a:t>
            </a:r>
            <a:r>
              <a:rPr b="1" i="0" lang="en-US" sz="19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"It works on my machine"</a:t>
            </a:r>
            <a:r>
              <a:rPr b="0" i="0" lang="en-US" sz="19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problem by bundling software with all its dependencies into a single standardized unit.</a:t>
            </a:r>
            <a:endParaRPr sz="1700"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-3755" l="0" r="0" t="0"/>
          <a:stretch/>
        </p:blipFill>
        <p:spPr>
          <a:xfrm>
            <a:off x="6334150" y="1744750"/>
            <a:ext cx="5286300" cy="386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496ED"/>
                </a:solidFill>
                <a:latin typeface="Poppins"/>
                <a:ea typeface="Poppins"/>
                <a:cs typeface="Poppins"/>
                <a:sym typeface="Poppins"/>
              </a:rPr>
              <a:t>WHAT IS DOCKER?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2496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79352"/>
            <a:ext cx="528637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03252"/>
            <a:ext cx="528637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27152"/>
            <a:ext cx="528637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851052"/>
            <a:ext cx="528637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679352"/>
            <a:ext cx="528637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403252"/>
            <a:ext cx="528637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4127152"/>
            <a:ext cx="528637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851052"/>
            <a:ext cx="52863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39340" y="193640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Traditional Virtualization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5622577"/>
            <a:ext cx="5286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Hardware Virtualization: Multiple OS copies.</a:t>
            </a:r>
            <a:endParaRPr sz="1700"/>
          </a:p>
        </p:txBody>
      </p:sp>
      <p:sp>
        <p:nvSpPr>
          <p:cNvPr id="116" name="Google Shape;116;p15"/>
          <p:cNvSpPr txBox="1"/>
          <p:nvPr/>
        </p:nvSpPr>
        <p:spPr>
          <a:xfrm>
            <a:off x="6201965" y="193640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496ED"/>
                </a:solidFill>
                <a:latin typeface="Poppins"/>
                <a:ea typeface="Poppins"/>
                <a:cs typeface="Poppins"/>
                <a:sym typeface="Poppins"/>
              </a:rPr>
              <a:t>Containerization (Docker)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334125" y="5622577"/>
            <a:ext cx="5286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OS Virtualization: Shared kernel, lightweight.</a:t>
            </a:r>
            <a:endParaRPr sz="1800"/>
          </a:p>
        </p:txBody>
      </p:sp>
      <p:sp>
        <p:nvSpPr>
          <p:cNvPr id="118" name="Google Shape;118;p15"/>
          <p:cNvSpPr txBox="1"/>
          <p:nvPr/>
        </p:nvSpPr>
        <p:spPr>
          <a:xfrm>
            <a:off x="781050" y="2888902"/>
            <a:ext cx="4867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App A </a:t>
            </a:r>
            <a:r>
              <a:rPr lang="en-US" sz="15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&amp; </a:t>
            </a:r>
            <a:r>
              <a:rPr b="0" i="0" lang="en-US" sz="15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App B</a:t>
            </a:r>
            <a:endParaRPr sz="1600"/>
          </a:p>
        </p:txBody>
      </p:sp>
      <p:sp>
        <p:nvSpPr>
          <p:cNvPr id="119" name="Google Shape;119;p15"/>
          <p:cNvSpPr txBox="1"/>
          <p:nvPr/>
        </p:nvSpPr>
        <p:spPr>
          <a:xfrm>
            <a:off x="781050" y="3612802"/>
            <a:ext cx="4867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Guest OS (Heavy</a:t>
            </a: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81050" y="4336702"/>
            <a:ext cx="4867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Hypervisor</a:t>
            </a:r>
            <a:endParaRPr sz="1600"/>
          </a:p>
        </p:txBody>
      </p:sp>
      <p:sp>
        <p:nvSpPr>
          <p:cNvPr id="121" name="Google Shape;121;p15"/>
          <p:cNvSpPr txBox="1"/>
          <p:nvPr/>
        </p:nvSpPr>
        <p:spPr>
          <a:xfrm>
            <a:off x="781050" y="5060602"/>
            <a:ext cx="4867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Host Infrastructure</a:t>
            </a:r>
            <a:endParaRPr sz="1600"/>
          </a:p>
        </p:txBody>
      </p:sp>
      <p:sp>
        <p:nvSpPr>
          <p:cNvPr id="122" name="Google Shape;122;p15"/>
          <p:cNvSpPr txBox="1"/>
          <p:nvPr/>
        </p:nvSpPr>
        <p:spPr>
          <a:xfrm>
            <a:off x="6543675" y="2888902"/>
            <a:ext cx="4867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App A / App B / App C</a:t>
            </a:r>
            <a:endParaRPr sz="1600"/>
          </a:p>
        </p:txBody>
      </p:sp>
      <p:sp>
        <p:nvSpPr>
          <p:cNvPr id="123" name="Google Shape;123;p15"/>
          <p:cNvSpPr txBox="1"/>
          <p:nvPr/>
        </p:nvSpPr>
        <p:spPr>
          <a:xfrm>
            <a:off x="6523831" y="3612802"/>
            <a:ext cx="4867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                                                   </a:t>
            </a:r>
            <a:r>
              <a:rPr lang="en-US" sz="15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HOST OS</a:t>
            </a:r>
            <a:r>
              <a:rPr b="0" i="0" lang="en-US" sz="15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(Shared)</a:t>
            </a:r>
            <a:endParaRPr sz="1600"/>
          </a:p>
        </p:txBody>
      </p:sp>
      <p:sp>
        <p:nvSpPr>
          <p:cNvPr id="124" name="Google Shape;124;p15"/>
          <p:cNvSpPr txBox="1"/>
          <p:nvPr/>
        </p:nvSpPr>
        <p:spPr>
          <a:xfrm>
            <a:off x="6543675" y="4336702"/>
            <a:ext cx="4867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Docker Engine</a:t>
            </a:r>
            <a:endParaRPr b="1" sz="1600"/>
          </a:p>
        </p:txBody>
      </p:sp>
      <p:sp>
        <p:nvSpPr>
          <p:cNvPr id="125" name="Google Shape;125;p15"/>
          <p:cNvSpPr txBox="1"/>
          <p:nvPr/>
        </p:nvSpPr>
        <p:spPr>
          <a:xfrm>
            <a:off x="6543675" y="5060602"/>
            <a:ext cx="4867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Host OS Kernel</a:t>
            </a:r>
            <a:endParaRPr sz="1600"/>
          </a:p>
        </p:txBody>
      </p:sp>
      <p:sp>
        <p:nvSpPr>
          <p:cNvPr id="126" name="Google Shape;126;p15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496ED"/>
                </a:solidFill>
                <a:latin typeface="Poppins"/>
                <a:ea typeface="Poppins"/>
                <a:cs typeface="Poppins"/>
                <a:sym typeface="Poppins"/>
              </a:rPr>
              <a:t>THE ARCHITECTURE SHIFT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2496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29891"/>
            <a:ext cx="5286375" cy="34650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088" y="2229891"/>
            <a:ext cx="5286375" cy="346501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857250" y="3249066"/>
            <a:ext cx="49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Docker Image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57250" y="3741566"/>
            <a:ext cx="4714800" cy="1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sng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Blueprint:</a:t>
            </a:r>
            <a:r>
              <a:rPr b="0" i="0" lang="en-US" sz="19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 read-only template containing the application code, libraries, and environment variables.</a:t>
            </a:r>
            <a:endParaRPr sz="1700"/>
          </a:p>
        </p:txBody>
      </p:sp>
      <p:sp>
        <p:nvSpPr>
          <p:cNvPr id="137" name="Google Shape;137;p16"/>
          <p:cNvSpPr txBox="1"/>
          <p:nvPr/>
        </p:nvSpPr>
        <p:spPr>
          <a:xfrm>
            <a:off x="857250" y="5005387"/>
            <a:ext cx="471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Analogy: </a:t>
            </a:r>
            <a:r>
              <a:rPr b="0" i="0" lang="en-US" sz="16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Class in OOP or a Recipe.</a:t>
            </a:r>
            <a:endParaRPr sz="1800"/>
          </a:p>
        </p:txBody>
      </p:sp>
      <p:sp>
        <p:nvSpPr>
          <p:cNvPr id="138" name="Google Shape;138;p16"/>
          <p:cNvSpPr txBox="1"/>
          <p:nvPr/>
        </p:nvSpPr>
        <p:spPr>
          <a:xfrm>
            <a:off x="6619875" y="3249066"/>
            <a:ext cx="49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Docker Container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619875" y="3741566"/>
            <a:ext cx="4714800" cy="1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sng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Live Instance:</a:t>
            </a:r>
            <a:r>
              <a:rPr b="0" i="0" lang="en-US" sz="19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 runnable instance of an image. It adds a writable layer on top of the image to store runtime changes.</a:t>
            </a:r>
            <a:endParaRPr sz="1700"/>
          </a:p>
        </p:txBody>
      </p:sp>
      <p:sp>
        <p:nvSpPr>
          <p:cNvPr id="140" name="Google Shape;140;p16"/>
          <p:cNvSpPr txBox="1"/>
          <p:nvPr/>
        </p:nvSpPr>
        <p:spPr>
          <a:xfrm>
            <a:off x="6619875" y="5005387"/>
            <a:ext cx="471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Analogy: </a:t>
            </a:r>
            <a:r>
              <a:rPr b="0" i="0" lang="en-US" sz="16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Object in OOP or the Meal.</a:t>
            </a:r>
            <a:endParaRPr sz="1800"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56326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9875" y="2563266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496ED"/>
                </a:solidFill>
                <a:latin typeface="Poppins"/>
                <a:ea typeface="Poppins"/>
                <a:cs typeface="Poppins"/>
                <a:sym typeface="Poppins"/>
              </a:rPr>
              <a:t>IMAGES VS. CONTAINERS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2496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496ED"/>
                </a:solidFill>
                <a:latin typeface="Poppins"/>
                <a:ea typeface="Poppins"/>
                <a:cs typeface="Poppins"/>
                <a:sym typeface="Poppins"/>
              </a:rPr>
              <a:t>THE DOCKER ECOSYSTEM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2496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-2025" r="4178" t="0"/>
          <a:stretch/>
        </p:blipFill>
        <p:spPr>
          <a:xfrm>
            <a:off x="1333550" y="1878550"/>
            <a:ext cx="9524900" cy="426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762000" y="762000"/>
            <a:ext cx="50006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496ED"/>
                </a:solidFill>
                <a:latin typeface="Poppins"/>
                <a:ea typeface="Poppins"/>
                <a:cs typeface="Poppins"/>
                <a:sym typeface="Poppins"/>
              </a:rPr>
              <a:t>DOCKER DESKTOP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571500" y="762000"/>
            <a:ext cx="76200" cy="685800"/>
          </a:xfrm>
          <a:prstGeom prst="rect">
            <a:avLst/>
          </a:prstGeom>
          <a:solidFill>
            <a:srgbClr val="2496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571500" y="1669338"/>
            <a:ext cx="4953000" cy="15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GUI-based command center for developers. It simplifies the process of building, sharing, and running containers locally.</a:t>
            </a:r>
            <a:endParaRPr sz="1700"/>
          </a:p>
        </p:txBody>
      </p:sp>
      <p:sp>
        <p:nvSpPr>
          <p:cNvPr id="161" name="Google Shape;161;p18"/>
          <p:cNvSpPr txBox="1"/>
          <p:nvPr/>
        </p:nvSpPr>
        <p:spPr>
          <a:xfrm>
            <a:off x="914400" y="3413670"/>
            <a:ext cx="4610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One-click setup for Win/Mac</a:t>
            </a:r>
            <a:endParaRPr sz="1600"/>
          </a:p>
        </p:txBody>
      </p:sp>
      <p:sp>
        <p:nvSpPr>
          <p:cNvPr id="162" name="Google Shape;162;p18"/>
          <p:cNvSpPr txBox="1"/>
          <p:nvPr/>
        </p:nvSpPr>
        <p:spPr>
          <a:xfrm>
            <a:off x="914400" y="3897510"/>
            <a:ext cx="4610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b="0" i="0" lang="en-US" sz="18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ntegrated Kubernetes support</a:t>
            </a:r>
            <a:endParaRPr sz="1600"/>
          </a:p>
        </p:txBody>
      </p:sp>
      <p:sp>
        <p:nvSpPr>
          <p:cNvPr id="163" name="Google Shape;163;p18"/>
          <p:cNvSpPr txBox="1"/>
          <p:nvPr/>
        </p:nvSpPr>
        <p:spPr>
          <a:xfrm>
            <a:off x="914400" y="4381351"/>
            <a:ext cx="4610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Visual Dashboard for management</a:t>
            </a:r>
            <a:endParaRPr sz="1600"/>
          </a:p>
        </p:txBody>
      </p:sp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5177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3561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19451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538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/>
          <p:nvPr/>
        </p:nvSpPr>
        <p:spPr>
          <a:xfrm>
            <a:off x="571500" y="3017509"/>
            <a:ext cx="11049000" cy="381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102423" y="3802409"/>
            <a:ext cx="386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BUILD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194475" y="4469159"/>
            <a:ext cx="36831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Create a </a:t>
            </a:r>
            <a:r>
              <a:rPr b="1" i="0" lang="en-US" sz="18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Dockerfile</a:t>
            </a:r>
            <a:r>
              <a:rPr b="0" i="0" lang="en-US" sz="18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describing your app environment.</a:t>
            </a:r>
            <a:endParaRPr sz="1600"/>
          </a:p>
        </p:txBody>
      </p:sp>
      <p:sp>
        <p:nvSpPr>
          <p:cNvPr id="176" name="Google Shape;176;p19"/>
          <p:cNvSpPr txBox="1"/>
          <p:nvPr/>
        </p:nvSpPr>
        <p:spPr>
          <a:xfrm>
            <a:off x="3969723" y="3802409"/>
            <a:ext cx="386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SHIP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3969724" y="4469159"/>
            <a:ext cx="36831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Push the </a:t>
            </a:r>
            <a:r>
              <a:rPr b="1" i="0" lang="en-US" sz="18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Image</a:t>
            </a:r>
            <a:r>
              <a:rPr b="0" i="0" lang="en-US" sz="18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to Docker Hub or a Registry.</a:t>
            </a:r>
            <a:endParaRPr sz="1600"/>
          </a:p>
        </p:txBody>
      </p:sp>
      <p:sp>
        <p:nvSpPr>
          <p:cNvPr id="178" name="Google Shape;178;p19"/>
          <p:cNvSpPr txBox="1"/>
          <p:nvPr/>
        </p:nvSpPr>
        <p:spPr>
          <a:xfrm>
            <a:off x="7845522" y="3802409"/>
            <a:ext cx="38672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RUN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7937599" y="4469159"/>
            <a:ext cx="36831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Pull and start the </a:t>
            </a:r>
            <a:r>
              <a:rPr b="1" i="0" lang="en-US" sz="18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Container</a:t>
            </a:r>
            <a:r>
              <a:rPr b="0" i="0" lang="en-US" sz="18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on any machine.</a:t>
            </a:r>
            <a:endParaRPr sz="1600"/>
          </a:p>
        </p:txBody>
      </p:sp>
      <p:sp>
        <p:nvSpPr>
          <p:cNvPr id="180" name="Google Shape;180;p19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496ED"/>
                </a:solidFill>
                <a:latin typeface="Poppins"/>
                <a:ea typeface="Poppins"/>
                <a:cs typeface="Poppins"/>
                <a:sym typeface="Poppins"/>
              </a:rPr>
              <a:t>THE MASTER WORKFLOW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2496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4350" y="279843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73138" y="279843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40949" y="2798434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971550" y="1847515"/>
            <a:ext cx="4886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Search:</a:t>
            </a:r>
            <a:r>
              <a:rPr b="0" i="0" lang="en-US" sz="18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docker search [image_name]</a:t>
            </a:r>
            <a:endParaRPr sz="1600"/>
          </a:p>
        </p:txBody>
      </p:sp>
      <p:sp>
        <p:nvSpPr>
          <p:cNvPr id="191" name="Google Shape;191;p20"/>
          <p:cNvSpPr txBox="1"/>
          <p:nvPr/>
        </p:nvSpPr>
        <p:spPr>
          <a:xfrm>
            <a:off x="971588" y="2430555"/>
            <a:ext cx="4886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Pull: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docker pull [image_name]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971588" y="2982970"/>
            <a:ext cx="4886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Run: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docker run [image_name]</a:t>
            </a:r>
            <a:endParaRPr/>
          </a:p>
        </p:txBody>
      </p:sp>
      <p:pic>
        <p:nvPicPr>
          <p:cNvPr descr="image.png" id="193" name="Google Shape;19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5074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13" y="243378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25" y="3016795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496ED"/>
                </a:solidFill>
                <a:latin typeface="Poppins"/>
                <a:ea typeface="Poppins"/>
                <a:cs typeface="Poppins"/>
                <a:sym typeface="Poppins"/>
              </a:rPr>
              <a:t>GETTING STARTED: KEY STEPS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2496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12652"/>
            <a:ext cx="3492549" cy="3099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12652"/>
            <a:ext cx="3492549" cy="3099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12652"/>
            <a:ext cx="3492549" cy="309934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857250" y="3431827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Efficiency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857250" y="4098577"/>
            <a:ext cx="292104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Seconds to start vs minutes for VMs. Shared resources mean more apps per server.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4635549" y="3431827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Portability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4635549" y="4098577"/>
            <a:ext cx="292104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Package once, run anywhere. Works on your laptop, AWS, Azure, or private cloud.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8413849" y="3431827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Isolation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8413849" y="4098577"/>
            <a:ext cx="292104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Each container has its own network, storage, and processes. Enhanced security.</a:t>
            </a:r>
            <a:endParaRPr/>
          </a:p>
        </p:txBody>
      </p:sp>
      <p:pic>
        <p:nvPicPr>
          <p:cNvPr descr="image.png" id="212" name="Google Shape;21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74602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549" y="274602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849" y="274602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496ED"/>
                </a:solidFill>
                <a:latin typeface="Poppins"/>
                <a:ea typeface="Poppins"/>
                <a:cs typeface="Poppins"/>
                <a:sym typeface="Poppins"/>
              </a:rPr>
              <a:t>THE ADVANTAGE MATRIX</a:t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2496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571500" y="2586930"/>
            <a:ext cx="528637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2496ED"/>
                </a:solidFill>
                <a:latin typeface="Lato"/>
                <a:ea typeface="Lato"/>
                <a:cs typeface="Lato"/>
                <a:sym typeface="Lato"/>
              </a:rPr>
              <a:t>10X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571500" y="4606230"/>
            <a:ext cx="52863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Faster Deployment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202013" y="2066400"/>
            <a:ext cx="55506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Why Developers Love It</a:t>
            </a:r>
            <a:endParaRPr sz="2100"/>
          </a:p>
        </p:txBody>
      </p:sp>
      <p:sp>
        <p:nvSpPr>
          <p:cNvPr id="225" name="Google Shape;225;p22"/>
          <p:cNvSpPr txBox="1"/>
          <p:nvPr/>
        </p:nvSpPr>
        <p:spPr>
          <a:xfrm>
            <a:off x="6202025" y="2737575"/>
            <a:ext cx="5286300" cy="1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It eliminates </a:t>
            </a:r>
            <a:r>
              <a:rPr b="1" i="0" lang="en-US" sz="19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dependency hell</a:t>
            </a:r>
            <a:r>
              <a:rPr b="0" i="0" lang="en-US" sz="19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 Every team member uses the exact same environment, reducing bugs by 30% on average.</a:t>
            </a:r>
            <a:endParaRPr sz="1700"/>
          </a:p>
        </p:txBody>
      </p:sp>
      <p:sp>
        <p:nvSpPr>
          <p:cNvPr id="226" name="Google Shape;226;p22"/>
          <p:cNvSpPr txBox="1"/>
          <p:nvPr/>
        </p:nvSpPr>
        <p:spPr>
          <a:xfrm>
            <a:off x="6202025" y="4072045"/>
            <a:ext cx="5286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Docker allows you to test microservices locally exactly as they would behave in production.</a:t>
            </a:r>
            <a:endParaRPr sz="1700"/>
          </a:p>
        </p:txBody>
      </p:sp>
      <p:sp>
        <p:nvSpPr>
          <p:cNvPr id="227" name="Google Shape;227;p22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496ED"/>
                </a:solidFill>
                <a:latin typeface="Poppins"/>
                <a:ea typeface="Poppins"/>
                <a:cs typeface="Poppins"/>
                <a:sym typeface="Poppins"/>
              </a:rPr>
              <a:t>DEVELOPER IMPACT</a:t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2496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12652"/>
            <a:ext cx="3492549" cy="3099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12652"/>
            <a:ext cx="3492549" cy="3099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12652"/>
            <a:ext cx="3492549" cy="309934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857250" y="3431827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 / CD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857250" y="4098577"/>
            <a:ext cx="292104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Automated testing and continuous delivery in uniform environments.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4635549" y="3431827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Microservices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4635549" y="4098577"/>
            <a:ext cx="2921049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Breaking monolithic apps into manageable, scalable services.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8413849" y="3431827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Cloud Native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8413849" y="4098577"/>
            <a:ext cx="292104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foundation of Kubernetes and modern serverless computing.</a:t>
            </a:r>
            <a:endParaRPr/>
          </a:p>
        </p:txBody>
      </p:sp>
      <p:pic>
        <p:nvPicPr>
          <p:cNvPr descr="image.png" id="243" name="Google Shape;24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74602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549" y="274602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849" y="274602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496ED"/>
                </a:solidFill>
                <a:latin typeface="Poppins"/>
                <a:ea typeface="Poppins"/>
                <a:cs typeface="Poppins"/>
                <a:sym typeface="Poppins"/>
              </a:rPr>
              <a:t>CRITICAL DOMAINS</a:t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2496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496ED"/>
                </a:solidFill>
                <a:latin typeface="Poppins"/>
                <a:ea typeface="Poppins"/>
                <a:cs typeface="Poppins"/>
                <a:sym typeface="Poppins"/>
              </a:rPr>
              <a:t>Practicle</a:t>
            </a:r>
            <a:endParaRPr b="1" sz="3600">
              <a:solidFill>
                <a:srgbClr val="2496E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2496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1137700" y="1257300"/>
            <a:ext cx="10120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  <a:highlight>
                  <a:schemeClr val="dk1"/>
                </a:highlight>
              </a:rPr>
              <a:t>Complete Small Docker Project – Python Calculator App</a:t>
            </a:r>
            <a:r>
              <a:rPr lang="en-US" sz="2300">
                <a:solidFill>
                  <a:schemeClr val="lt1"/>
                </a:solidFill>
                <a:highlight>
                  <a:schemeClr val="dk1"/>
                </a:highlight>
              </a:rPr>
              <a:t> step by step.</a:t>
            </a:r>
            <a:endParaRPr sz="26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256" name="Google Shape;256;p24"/>
          <p:cNvSpPr txBox="1"/>
          <p:nvPr/>
        </p:nvSpPr>
        <p:spPr>
          <a:xfrm>
            <a:off x="1323200" y="2014375"/>
            <a:ext cx="59265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</a:rPr>
              <a:t>✅ Create Project</a:t>
            </a:r>
            <a:br>
              <a:rPr lang="en-US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</a:rPr>
              <a:t>✅ Write Python Calculator Code</a:t>
            </a:r>
            <a:br>
              <a:rPr lang="en-US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</a:rPr>
              <a:t>✅ Create Dockerfile</a:t>
            </a:r>
            <a:br>
              <a:rPr lang="en-US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</a:rPr>
              <a:t>✅ Build Docker Image</a:t>
            </a:r>
            <a:br>
              <a:rPr lang="en-US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</a:rPr>
              <a:t>✅ Run Container</a:t>
            </a:r>
            <a:br>
              <a:rPr lang="en-US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</a:rPr>
              <a:t>✅ Test</a:t>
            </a:r>
            <a:br>
              <a:rPr lang="en-US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</a:rPr>
              <a:t>✅ Stop &amp; Remove Container</a:t>
            </a:r>
            <a:br>
              <a:rPr lang="en-US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</a:rPr>
              <a:t>✅ Optional: Push to Docker Hub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295275" y="1754534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571500" y="3088034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496ED"/>
                </a:solidFill>
                <a:latin typeface="Lato"/>
                <a:ea typeface="Lato"/>
                <a:cs typeface="Lato"/>
                <a:sym typeface="Lato"/>
              </a:rPr>
              <a:t>Revolutionize your development workflow today.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571500" y="4600575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Learn more at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www.docker.com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/>
          <p:nvPr/>
        </p:nvSpPr>
        <p:spPr>
          <a:xfrm>
            <a:off x="571500" y="24241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571500" y="31956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571500" y="39671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571500" y="31861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571500" y="31861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571500" y="39576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571500" y="39576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571500" y="47291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571500" y="47291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9" name="Google Shape;27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669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6"/>
          <p:cNvSpPr txBox="1"/>
          <p:nvPr/>
        </p:nvSpPr>
        <p:spPr>
          <a:xfrm>
            <a:off x="1666875" y="2587972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https://cdn.iconscout.com/icon/free/png-256/free-docker-logo-icon-svg-download-png-2285024.png?f=webp</a:t>
            </a:r>
            <a:endParaRPr/>
          </a:p>
        </p:txBody>
      </p:sp>
      <p:sp>
        <p:nvSpPr>
          <p:cNvPr id="281" name="Google Shape;281;p26"/>
          <p:cNvSpPr txBox="1"/>
          <p:nvPr/>
        </p:nvSpPr>
        <p:spPr>
          <a:xfrm>
            <a:off x="1666875" y="280883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iconscout.com</a:t>
            </a:r>
            <a:endParaRPr/>
          </a:p>
        </p:txBody>
      </p:sp>
      <p:pic>
        <p:nvPicPr>
          <p:cNvPr descr="image.png" id="282" name="Google Shape;28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385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6"/>
          <p:cNvSpPr txBox="1"/>
          <p:nvPr/>
        </p:nvSpPr>
        <p:spPr>
          <a:xfrm>
            <a:off x="1666875" y="3359497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https://png.pngtree.com/thumb_back/fw800/background/20251009/pngtree-sunset-over-busy-port-with-container-ship-cranes-and-rows-of-image_19805411.webp</a:t>
            </a:r>
            <a:endParaRPr/>
          </a:p>
        </p:txBody>
      </p:sp>
      <p:sp>
        <p:nvSpPr>
          <p:cNvPr id="284" name="Google Shape;284;p26"/>
          <p:cNvSpPr txBox="1"/>
          <p:nvPr/>
        </p:nvSpPr>
        <p:spPr>
          <a:xfrm>
            <a:off x="1666875" y="358035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/>
          </a:p>
        </p:txBody>
      </p:sp>
      <p:pic>
        <p:nvPicPr>
          <p:cNvPr descr="image.png" id="285" name="Google Shape;285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100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6"/>
          <p:cNvSpPr txBox="1"/>
          <p:nvPr/>
        </p:nvSpPr>
        <p:spPr>
          <a:xfrm>
            <a:off x="1666875" y="4131022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https://preview.redd.it/how-do-you-devs-work-on-laptops-or-only-one-monitor-i-feel-v0-r8iipwujvnkc1.jpeg?auto=webp&amp;s=5830ca3bd94e6c914890ccf08e11f2d43418c2e4</a:t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1666875" y="435188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www.reddit.com</a:t>
            </a:r>
            <a:endParaRPr/>
          </a:p>
        </p:txBody>
      </p:sp>
      <p:pic>
        <p:nvPicPr>
          <p:cNvPr descr="image.png" id="288" name="Google Shape;288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815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6"/>
          <p:cNvSpPr txBox="1"/>
          <p:nvPr/>
        </p:nvSpPr>
        <p:spPr>
          <a:xfrm>
            <a:off x="1666875" y="4902547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https://dataspan.com/wp-content/uploads/2025/09/01-5-data-center-lighting-considerations.jpg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1666875" y="512340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dataspan.com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496ED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92" name="Google Shape;292;p26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2496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