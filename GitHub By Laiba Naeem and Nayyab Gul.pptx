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8"/>
  </p:notesMasterIdLst>
  <p:sldIdLst>
    <p:sldId id="279" r:id="rId2"/>
    <p:sldId id="280" r:id="rId3"/>
    <p:sldId id="305" r:id="rId4"/>
    <p:sldId id="299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258" r:id="rId13"/>
    <p:sldId id="288" r:id="rId14"/>
    <p:sldId id="266" r:id="rId15"/>
    <p:sldId id="284" r:id="rId16"/>
    <p:sldId id="283" r:id="rId17"/>
    <p:sldId id="286" r:id="rId18"/>
    <p:sldId id="300" r:id="rId19"/>
    <p:sldId id="301" r:id="rId20"/>
    <p:sldId id="302" r:id="rId21"/>
    <p:sldId id="304" r:id="rId22"/>
    <p:sldId id="298" r:id="rId23"/>
    <p:sldId id="260" r:id="rId24"/>
    <p:sldId id="273" r:id="rId25"/>
    <p:sldId id="314" r:id="rId26"/>
    <p:sldId id="28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29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380" y="64"/>
      </p:cViewPr>
      <p:guideLst>
        <p:guide orient="horz" pos="2276"/>
        <p:guide pos="29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95B4D-2EC7-4F8A-A915-A40FDB75C86D}" type="datetimeFigureOut">
              <a:rPr lang="en-US" smtClean="0"/>
              <a:t>3/12/2026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05E75-2642-4078-9EC2-ACD46A96F2F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05E75-2642-4078-9EC2-ACD46A96F2F9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05E75-2642-4078-9EC2-ACD46A96F2F9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3AAA-8121-43B7-AEAE-EC78C4684606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2CFF-2EB5-46BA-B097-01E285FB027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57FD-BBCA-4542-A804-720D06A50B3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00C7-F944-4B69-8FA2-082009FE6F39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F8F4E-A828-4516-A0F5-EBF95F1DC9E1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3CB-3282-4EFB-8206-A5242E43A8E0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1696-9B26-45E0-B616-C92E3093BD9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0AE3-0411-40AB-947D-3C8EEF3CFE3F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6AAD8-8693-4BD6-96CB-1F5570078A4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CA1F-FBB1-4847-BB3A-8E643E534A3C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E24E2-316B-4182-A4BE-680148EA4F94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09C8C-555A-4B49-8E0C-B996383DB667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21C08-0308-47B0-8F21-CCC9765602E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95606" cy="6850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099820" y="457200"/>
            <a:ext cx="7587615" cy="3200400"/>
          </a:xfrm>
          <a:prstGeom prst="rect">
            <a:avLst/>
          </a:prstGeom>
        </p:spPr>
        <p:txBody>
          <a:bodyPr vert="horz" wrap="square" lIns="0" tIns="85609" rIns="0" bIns="0" rtlCol="0">
            <a:noAutofit/>
          </a:bodyPr>
          <a:lstStyle/>
          <a:p>
            <a:pPr marL="25400" marR="10160" algn="ctr">
              <a:lnSpc>
                <a:spcPts val="4340"/>
              </a:lnSpc>
              <a:spcBef>
                <a:spcPts val="675"/>
              </a:spcBef>
            </a:pPr>
            <a:r>
              <a:rPr lang="en-US" b="1" spc="-20" dirty="0" smtClean="0">
                <a:solidFill>
                  <a:schemeClr val="tx1"/>
                </a:solidFill>
              </a:rPr>
              <a:t>Git &amp; Github: Essential Tool for Modern Development</a:t>
            </a: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4" name="Picture 3" descr="git"/>
          <p:cNvPicPr>
            <a:picLocks noChangeAspect="1"/>
          </p:cNvPicPr>
          <p:nvPr/>
        </p:nvPicPr>
        <p:blipFill>
          <a:blip r:embed="rId5"/>
          <a:srcRect l="13972" r="13044"/>
          <a:stretch>
            <a:fillRect/>
          </a:stretch>
        </p:blipFill>
        <p:spPr>
          <a:xfrm>
            <a:off x="3276601" y="3276600"/>
            <a:ext cx="1905000" cy="1712767"/>
          </a:xfrm>
          <a:prstGeom prst="rect">
            <a:avLst/>
          </a:prstGeom>
        </p:spPr>
      </p:pic>
      <p:sp>
        <p:nvSpPr>
          <p:cNvPr id="9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95606" cy="6850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981200"/>
            <a:ext cx="6140450" cy="1847850"/>
          </a:xfrm>
          <a:prstGeom prst="rect">
            <a:avLst/>
          </a:prstGeom>
        </p:spPr>
      </p:pic>
      <p:sp>
        <p:nvSpPr>
          <p:cNvPr id="8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448085" y="629575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What is GitHub?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60195" y="1435100"/>
            <a:ext cx="6109335" cy="3299460"/>
            <a:chOff x="2457" y="1780"/>
            <a:chExt cx="9621" cy="5196"/>
          </a:xfrm>
        </p:grpSpPr>
        <p:sp>
          <p:nvSpPr>
            <p:cNvPr id="100" name="r100"/>
            <p:cNvSpPr>
              <a:spLocks noGrp="1"/>
            </p:cNvSpPr>
            <p:nvPr/>
          </p:nvSpPr>
          <p:spPr>
            <a:xfrm>
              <a:off x="2457" y="1780"/>
              <a:ext cx="3071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BDD7E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0" name="r110"/>
            <p:cNvSpPr>
              <a:spLocks noGrp="1"/>
            </p:cNvSpPr>
            <p:nvPr/>
          </p:nvSpPr>
          <p:spPr>
            <a:xfrm>
              <a:off x="2457" y="1780"/>
              <a:ext cx="3071" cy="126"/>
            </a:xfrm>
            <a:prstGeom prst="rect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0" name="t200"/>
            <p:cNvSpPr txBox="1"/>
            <p:nvPr/>
          </p:nvSpPr>
          <p:spPr>
            <a:xfrm>
              <a:off x="2551" y="2031"/>
              <a:ext cx="2882" cy="661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75B6"/>
                  </a:solidFill>
                  <a:latin typeface="Tahoma" panose="020B0604030504040204"/>
                </a:rPr>
                <a:t>Code Cloud Drive</a:t>
              </a:r>
            </a:p>
          </p:txBody>
        </p:sp>
        <p:sp>
          <p:nvSpPr>
            <p:cNvPr id="300" name="t300"/>
            <p:cNvSpPr txBox="1"/>
            <p:nvPr/>
          </p:nvSpPr>
          <p:spPr>
            <a:xfrm>
              <a:off x="2551" y="2850"/>
              <a:ext cx="2882" cy="2835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05050"/>
                  </a:solidFill>
                  <a:latin typeface="Tahoma" panose="020B0604030504040204"/>
                </a:rPr>
                <a:t>Like Google Drive for code.
Store, access &amp; restore files anytime.</a:t>
              </a:r>
            </a:p>
          </p:txBody>
        </p:sp>
        <p:sp>
          <p:nvSpPr>
            <p:cNvPr id="101" name="r101"/>
            <p:cNvSpPr>
              <a:spLocks noGrp="1"/>
            </p:cNvSpPr>
            <p:nvPr/>
          </p:nvSpPr>
          <p:spPr>
            <a:xfrm>
              <a:off x="5732" y="1780"/>
              <a:ext cx="3071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BDD7E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1" name="r111"/>
            <p:cNvSpPr>
              <a:spLocks noGrp="1"/>
            </p:cNvSpPr>
            <p:nvPr/>
          </p:nvSpPr>
          <p:spPr>
            <a:xfrm>
              <a:off x="5732" y="1780"/>
              <a:ext cx="3071" cy="126"/>
            </a:xfrm>
            <a:prstGeom prst="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1" name="t201"/>
            <p:cNvSpPr txBox="1"/>
            <p:nvPr/>
          </p:nvSpPr>
          <p:spPr>
            <a:xfrm>
              <a:off x="5827" y="2031"/>
              <a:ext cx="2882" cy="661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F7A4E"/>
                  </a:solidFill>
                  <a:latin typeface="Tahoma" panose="020B0604030504040204"/>
                </a:rPr>
                <a:t>Time Machine</a:t>
              </a:r>
            </a:p>
          </p:txBody>
        </p:sp>
        <p:sp>
          <p:nvSpPr>
            <p:cNvPr id="301" name="t301"/>
            <p:cNvSpPr txBox="1"/>
            <p:nvPr/>
          </p:nvSpPr>
          <p:spPr>
            <a:xfrm>
              <a:off x="5827" y="2850"/>
              <a:ext cx="2882" cy="2835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05050"/>
                  </a:solidFill>
                  <a:latin typeface="Tahoma" panose="020B0604030504040204"/>
                </a:rPr>
                <a:t>Full history of every change.
Revert to any past version in one click.</a:t>
              </a:r>
            </a:p>
          </p:txBody>
        </p:sp>
        <p:sp>
          <p:nvSpPr>
            <p:cNvPr id="102" name="r102"/>
            <p:cNvSpPr>
              <a:spLocks noGrp="1"/>
            </p:cNvSpPr>
            <p:nvPr/>
          </p:nvSpPr>
          <p:spPr>
            <a:xfrm>
              <a:off x="9008" y="1780"/>
              <a:ext cx="3071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BDD7E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2" name="r112"/>
            <p:cNvSpPr>
              <a:spLocks noGrp="1"/>
            </p:cNvSpPr>
            <p:nvPr/>
          </p:nvSpPr>
          <p:spPr>
            <a:xfrm>
              <a:off x="9008" y="1780"/>
              <a:ext cx="3071" cy="126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2" name="t202"/>
            <p:cNvSpPr txBox="1"/>
            <p:nvPr/>
          </p:nvSpPr>
          <p:spPr>
            <a:xfrm>
              <a:off x="9102" y="2031"/>
              <a:ext cx="2882" cy="661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7030A0"/>
                  </a:solidFill>
                  <a:latin typeface="Tahoma" panose="020B0604030504040204"/>
                </a:rPr>
                <a:t>Team Office</a:t>
              </a:r>
            </a:p>
          </p:txBody>
        </p:sp>
        <p:sp>
          <p:nvSpPr>
            <p:cNvPr id="302" name="t302"/>
            <p:cNvSpPr txBox="1"/>
            <p:nvPr/>
          </p:nvSpPr>
          <p:spPr>
            <a:xfrm>
              <a:off x="9102" y="2850"/>
              <a:ext cx="2882" cy="2835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505050"/>
                  </a:solidFill>
                  <a:latin typeface="Tahoma" panose="020B0604030504040204"/>
                </a:rPr>
                <a:t>100+ developers work on one project simultaneously without conflicts.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539875" y="5010785"/>
            <a:ext cx="6179185" cy="697230"/>
            <a:chOff x="2425" y="7291"/>
            <a:chExt cx="9731" cy="1098"/>
          </a:xfrm>
        </p:grpSpPr>
        <p:sp>
          <p:nvSpPr>
            <p:cNvPr id="700" name="r700"/>
            <p:cNvSpPr>
              <a:spLocks noGrp="1"/>
            </p:cNvSpPr>
            <p:nvPr/>
          </p:nvSpPr>
          <p:spPr>
            <a:xfrm>
              <a:off x="2425" y="7291"/>
              <a:ext cx="9606" cy="1098"/>
            </a:xfrm>
            <a:prstGeom prst="rect">
              <a:avLst/>
            </a:prstGeom>
            <a:solidFill>
              <a:srgbClr val="1F3864"/>
            </a:solidFill>
            <a:ln>
              <a:solidFill>
                <a:srgbClr val="1F3864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800" name="t800"/>
            <p:cNvSpPr txBox="1"/>
            <p:nvPr/>
          </p:nvSpPr>
          <p:spPr>
            <a:xfrm>
              <a:off x="2551" y="7370"/>
              <a:ext cx="2283" cy="748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Tahoma" panose="020B0604030504040204"/>
                </a:rPr>
                <a:t>100M+ Developers</a:t>
              </a:r>
            </a:p>
          </p:txBody>
        </p:sp>
        <p:sp>
          <p:nvSpPr>
            <p:cNvPr id="801" name="t801"/>
            <p:cNvSpPr txBox="1"/>
            <p:nvPr/>
          </p:nvSpPr>
          <p:spPr>
            <a:xfrm>
              <a:off x="4992" y="7370"/>
              <a:ext cx="2283" cy="50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Tahoma" panose="020B0604030504040204"/>
                </a:rPr>
                <a:t>420M+ Repositories</a:t>
              </a:r>
            </a:p>
          </p:txBody>
        </p:sp>
        <p:sp>
          <p:nvSpPr>
            <p:cNvPr id="802" name="t802"/>
            <p:cNvSpPr txBox="1"/>
            <p:nvPr/>
          </p:nvSpPr>
          <p:spPr>
            <a:xfrm>
              <a:off x="7433" y="7370"/>
              <a:ext cx="2283" cy="50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Tahoma" panose="020B0604030504040204"/>
                </a:rPr>
                <a:t>Microsoft (2018)</a:t>
              </a:r>
            </a:p>
          </p:txBody>
        </p:sp>
        <p:sp>
          <p:nvSpPr>
            <p:cNvPr id="803" name="t803"/>
            <p:cNvSpPr txBox="1"/>
            <p:nvPr/>
          </p:nvSpPr>
          <p:spPr>
            <a:xfrm>
              <a:off x="9874" y="7370"/>
              <a:ext cx="2283" cy="50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Tahoma" panose="020B0604030504040204"/>
                </a:rPr>
                <a:t>#1 Code Platform</a:t>
              </a:r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95606" cy="6850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519205" y="266729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600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  <a:sym typeface="+mn-ea"/>
              </a:rPr>
              <a:t>Git vs Github?</a:t>
            </a:r>
            <a:endParaRPr lang="en-US" sz="3600" b="1" spc="-20" dirty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3600" b="1" spc="-20" dirty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530000" y="22000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Repository — Your Project Folder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100" name="r100"/>
          <p:cNvSpPr>
            <a:spLocks noGrp="1"/>
          </p:cNvSpPr>
          <p:nvPr/>
        </p:nvSpPr>
        <p:spPr>
          <a:xfrm>
            <a:off x="1540000" y="1130000"/>
            <a:ext cx="3000000" cy="5100000"/>
          </a:xfrm>
          <a:prstGeom prst="rect">
            <a:avLst/>
          </a:prstGeom>
          <a:solidFill>
            <a:srgbClr val="F2F7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00" name="t200"/>
          <p:cNvSpPr txBox="1"/>
          <p:nvPr/>
        </p:nvSpPr>
        <p:spPr>
          <a:xfrm>
            <a:off x="1620000" y="13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2E75B6"/>
                </a:solidFill>
                <a:latin typeface="Tahoma" panose="020B0604030504040204"/>
              </a:rPr>
              <a:t>📁  src/</a:t>
            </a:r>
          </a:p>
        </p:txBody>
      </p:sp>
      <p:sp>
        <p:nvSpPr>
          <p:cNvPr id="201" name="t201"/>
          <p:cNvSpPr txBox="1"/>
          <p:nvPr/>
        </p:nvSpPr>
        <p:spPr>
          <a:xfrm>
            <a:off x="1620000" y="19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505050"/>
                </a:solidFill>
                <a:latin typeface="Tahoma" panose="020B0604030504040204"/>
              </a:rPr>
              <a:t>    📄  index.html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1620000" y="25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505050"/>
                </a:solidFill>
                <a:latin typeface="Tahoma" panose="020B0604030504040204"/>
              </a:rPr>
              <a:t>    📄  style.css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1620000" y="31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2E75B6"/>
                </a:solidFill>
                <a:latin typeface="Tahoma" panose="020B0604030504040204"/>
              </a:rPr>
              <a:t>📁  images/</a:t>
            </a:r>
          </a:p>
        </p:txBody>
      </p:sp>
      <p:sp>
        <p:nvSpPr>
          <p:cNvPr id="204" name="t204"/>
          <p:cNvSpPr txBox="1"/>
          <p:nvPr/>
        </p:nvSpPr>
        <p:spPr>
          <a:xfrm>
            <a:off x="1620000" y="37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505050"/>
                </a:solidFill>
                <a:latin typeface="Tahoma" panose="020B0604030504040204"/>
              </a:rPr>
              <a:t>    📄  logo.png</a:t>
            </a:r>
          </a:p>
        </p:txBody>
      </p:sp>
      <p:sp>
        <p:nvSpPr>
          <p:cNvPr id="205" name="t205"/>
          <p:cNvSpPr txBox="1"/>
          <p:nvPr/>
        </p:nvSpPr>
        <p:spPr>
          <a:xfrm>
            <a:off x="1620000" y="43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1F7A4E"/>
                </a:solidFill>
                <a:latin typeface="Tahoma" panose="020B0604030504040204"/>
              </a:rPr>
              <a:t>📄  README.md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1620000" y="4930000"/>
            <a:ext cx="2800000" cy="5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C55A11"/>
                </a:solidFill>
                <a:latin typeface="Tahoma" panose="020B0604030504040204"/>
              </a:rPr>
              <a:t>📄  .gitignore</a:t>
            </a:r>
          </a:p>
        </p:txBody>
      </p:sp>
      <p:sp>
        <p:nvSpPr>
          <p:cNvPr id="300" name="r300"/>
          <p:cNvSpPr>
            <a:spLocks noGrp="1"/>
          </p:cNvSpPr>
          <p:nvPr/>
        </p:nvSpPr>
        <p:spPr>
          <a:xfrm>
            <a:off x="4750000" y="1130000"/>
            <a:ext cx="2900000" cy="1150000"/>
          </a:xfrm>
          <a:prstGeom prst="rect">
            <a:avLst/>
          </a:prstGeom>
          <a:solidFill>
            <a:srgbClr val="F2F7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10" name="r310"/>
          <p:cNvSpPr>
            <a:spLocks noGrp="1"/>
          </p:cNvSpPr>
          <p:nvPr/>
        </p:nvSpPr>
        <p:spPr>
          <a:xfrm>
            <a:off x="4750000" y="1130000"/>
            <a:ext cx="55000" cy="115000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00" name="t400"/>
          <p:cNvSpPr txBox="1"/>
          <p:nvPr/>
        </p:nvSpPr>
        <p:spPr>
          <a:xfrm>
            <a:off x="4860000" y="123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2E75B6"/>
                </a:solidFill>
                <a:latin typeface="Tahoma" panose="020B0604030504040204"/>
              </a:rPr>
              <a:t>Source Code</a:t>
            </a:r>
          </a:p>
        </p:txBody>
      </p:sp>
      <p:sp>
        <p:nvSpPr>
          <p:cNvPr id="500" name="t500"/>
          <p:cNvSpPr txBox="1"/>
          <p:nvPr/>
        </p:nvSpPr>
        <p:spPr>
          <a:xfrm>
            <a:off x="4860000" y="171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HTML, CSS, JS, Python files</a:t>
            </a:r>
          </a:p>
        </p:txBody>
      </p:sp>
      <p:sp>
        <p:nvSpPr>
          <p:cNvPr id="301" name="r301"/>
          <p:cNvSpPr>
            <a:spLocks noGrp="1"/>
          </p:cNvSpPr>
          <p:nvPr/>
        </p:nvSpPr>
        <p:spPr>
          <a:xfrm>
            <a:off x="4750000" y="2430000"/>
            <a:ext cx="2900000" cy="1150000"/>
          </a:xfrm>
          <a:prstGeom prst="rect">
            <a:avLst/>
          </a:prstGeom>
          <a:solidFill>
            <a:srgbClr val="F2F7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11" name="r311"/>
          <p:cNvSpPr>
            <a:spLocks noGrp="1"/>
          </p:cNvSpPr>
          <p:nvPr/>
        </p:nvSpPr>
        <p:spPr>
          <a:xfrm>
            <a:off x="4750000" y="2430000"/>
            <a:ext cx="55000" cy="1150000"/>
          </a:xfrm>
          <a:prstGeom prst="rect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01" name="t401"/>
          <p:cNvSpPr txBox="1"/>
          <p:nvPr/>
        </p:nvSpPr>
        <p:spPr>
          <a:xfrm>
            <a:off x="4860000" y="253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1F7A4E"/>
                </a:solidFill>
                <a:latin typeface="Tahoma" panose="020B0604030504040204"/>
              </a:rPr>
              <a:t>README.md</a:t>
            </a:r>
          </a:p>
        </p:txBody>
      </p:sp>
      <p:sp>
        <p:nvSpPr>
          <p:cNvPr id="501" name="t501"/>
          <p:cNvSpPr txBox="1"/>
          <p:nvPr/>
        </p:nvSpPr>
        <p:spPr>
          <a:xfrm>
            <a:off x="4860000" y="301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Project story &amp; how to use</a:t>
            </a:r>
          </a:p>
        </p:txBody>
      </p:sp>
      <p:sp>
        <p:nvSpPr>
          <p:cNvPr id="302" name="r302"/>
          <p:cNvSpPr>
            <a:spLocks noGrp="1"/>
          </p:cNvSpPr>
          <p:nvPr/>
        </p:nvSpPr>
        <p:spPr>
          <a:xfrm>
            <a:off x="4750000" y="3730000"/>
            <a:ext cx="2900000" cy="1150000"/>
          </a:xfrm>
          <a:prstGeom prst="rect">
            <a:avLst/>
          </a:prstGeom>
          <a:solidFill>
            <a:srgbClr val="F2F7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12" name="r312"/>
          <p:cNvSpPr>
            <a:spLocks noGrp="1"/>
          </p:cNvSpPr>
          <p:nvPr/>
        </p:nvSpPr>
        <p:spPr>
          <a:xfrm>
            <a:off x="4750000" y="3730000"/>
            <a:ext cx="55000" cy="115000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02" name="t402"/>
          <p:cNvSpPr txBox="1"/>
          <p:nvPr/>
        </p:nvSpPr>
        <p:spPr>
          <a:xfrm>
            <a:off x="4860000" y="383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2E75B6"/>
                </a:solidFill>
                <a:latin typeface="Tahoma" panose="020B0604030504040204"/>
              </a:rPr>
              <a:t>Commit History</a:t>
            </a:r>
          </a:p>
        </p:txBody>
      </p:sp>
      <p:sp>
        <p:nvSpPr>
          <p:cNvPr id="502" name="t502"/>
          <p:cNvSpPr txBox="1"/>
          <p:nvPr/>
        </p:nvSpPr>
        <p:spPr>
          <a:xfrm>
            <a:off x="4860000" y="431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Who changed what &amp; when</a:t>
            </a:r>
          </a:p>
        </p:txBody>
      </p:sp>
      <p:sp>
        <p:nvSpPr>
          <p:cNvPr id="303" name="r303"/>
          <p:cNvSpPr>
            <a:spLocks noGrp="1"/>
          </p:cNvSpPr>
          <p:nvPr/>
        </p:nvSpPr>
        <p:spPr>
          <a:xfrm>
            <a:off x="4750000" y="5030000"/>
            <a:ext cx="2900000" cy="1150000"/>
          </a:xfrm>
          <a:prstGeom prst="rect">
            <a:avLst/>
          </a:prstGeom>
          <a:solidFill>
            <a:srgbClr val="F2F7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313" name="r313"/>
          <p:cNvSpPr>
            <a:spLocks noGrp="1"/>
          </p:cNvSpPr>
          <p:nvPr/>
        </p:nvSpPr>
        <p:spPr>
          <a:xfrm>
            <a:off x="4750000" y="5030000"/>
            <a:ext cx="55000" cy="115000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403" name="t403"/>
          <p:cNvSpPr txBox="1"/>
          <p:nvPr/>
        </p:nvSpPr>
        <p:spPr>
          <a:xfrm>
            <a:off x="4860000" y="513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C55A11"/>
                </a:solidFill>
                <a:latin typeface="Tahoma" panose="020B0604030504040204"/>
              </a:rPr>
              <a:t>Public / Private</a:t>
            </a:r>
          </a:p>
        </p:txBody>
      </p:sp>
      <p:sp>
        <p:nvSpPr>
          <p:cNvPr id="503" name="t503"/>
          <p:cNvSpPr txBox="1"/>
          <p:nvPr/>
        </p:nvSpPr>
        <p:spPr>
          <a:xfrm>
            <a:off x="4860000" y="5610000"/>
            <a:ext cx="2750000" cy="42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You control who sees it</a:t>
            </a: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910365" y="37367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Git Workflow — How It Works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341120" y="1130300"/>
            <a:ext cx="1440180" cy="3299460"/>
            <a:chOff x="2472" y="1780"/>
            <a:chExt cx="2268" cy="5196"/>
          </a:xfrm>
        </p:grpSpPr>
        <p:sp>
          <p:nvSpPr>
            <p:cNvPr id="110" name="r110"/>
            <p:cNvSpPr>
              <a:spLocks noGrp="1"/>
            </p:cNvSpPr>
            <p:nvPr/>
          </p:nvSpPr>
          <p:spPr>
            <a:xfrm>
              <a:off x="2472" y="1780"/>
              <a:ext cx="2268" cy="118"/>
            </a:xfrm>
            <a:prstGeom prst="rect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00" name="r100"/>
            <p:cNvSpPr>
              <a:spLocks noGrp="1"/>
            </p:cNvSpPr>
            <p:nvPr/>
          </p:nvSpPr>
          <p:spPr>
            <a:xfrm>
              <a:off x="2472" y="1780"/>
              <a:ext cx="2268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0" name="r120"/>
            <p:cNvSpPr>
              <a:spLocks noGrp="1"/>
            </p:cNvSpPr>
            <p:nvPr/>
          </p:nvSpPr>
          <p:spPr>
            <a:xfrm>
              <a:off x="3252" y="2016"/>
              <a:ext cx="709" cy="709"/>
            </a:xfrm>
            <a:prstGeom prst="roundRect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0" name="t130"/>
            <p:cNvSpPr txBox="1"/>
            <p:nvPr/>
          </p:nvSpPr>
          <p:spPr>
            <a:xfrm>
              <a:off x="3252" y="2063"/>
              <a:ext cx="709" cy="61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FFFF"/>
                  </a:solidFill>
                  <a:latin typeface="Tahoma" panose="020B0604030504040204"/>
                </a:rPr>
                <a:t>1</a:t>
              </a:r>
            </a:p>
          </p:txBody>
        </p:sp>
        <p:sp>
          <p:nvSpPr>
            <p:cNvPr id="200" name="t200"/>
            <p:cNvSpPr txBox="1"/>
            <p:nvPr/>
          </p:nvSpPr>
          <p:spPr>
            <a:xfrm>
              <a:off x="2535" y="292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700" b="1" dirty="0">
                  <a:solidFill>
                    <a:srgbClr val="2E75B6"/>
                  </a:solidFill>
                  <a:latin typeface="Tahoma" panose="020B0604030504040204"/>
                </a:rPr>
                <a:t>Write Code</a:t>
              </a:r>
            </a:p>
          </p:txBody>
        </p:sp>
        <p:sp>
          <p:nvSpPr>
            <p:cNvPr id="300" name="t300"/>
            <p:cNvSpPr txBox="1"/>
            <p:nvPr/>
          </p:nvSpPr>
          <p:spPr>
            <a:xfrm>
              <a:off x="2567" y="3717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Edit files on your computer</a:t>
              </a:r>
            </a:p>
          </p:txBody>
        </p:sp>
      </p:grpSp>
      <p:sp>
        <p:nvSpPr>
          <p:cNvPr id="400" name="t400"/>
          <p:cNvSpPr txBox="1"/>
          <p:nvPr/>
        </p:nvSpPr>
        <p:spPr>
          <a:xfrm>
            <a:off x="2734945" y="2377440"/>
            <a:ext cx="99695" cy="34988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2000" dirty="0">
                <a:solidFill>
                  <a:srgbClr val="2E75B6"/>
                </a:solidFill>
                <a:latin typeface="Tahoma" panose="020B0604030504040204"/>
              </a:rPr>
              <a:t>→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134995" y="1130300"/>
            <a:ext cx="1440180" cy="3299460"/>
            <a:chOff x="4937" y="1780"/>
            <a:chExt cx="2268" cy="5196"/>
          </a:xfrm>
        </p:grpSpPr>
        <p:sp>
          <p:nvSpPr>
            <p:cNvPr id="111" name="r111"/>
            <p:cNvSpPr>
              <a:spLocks noGrp="1"/>
            </p:cNvSpPr>
            <p:nvPr/>
          </p:nvSpPr>
          <p:spPr>
            <a:xfrm>
              <a:off x="4937" y="1780"/>
              <a:ext cx="2268" cy="118"/>
            </a:xfrm>
            <a:prstGeom prst="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01" name="r101"/>
            <p:cNvSpPr>
              <a:spLocks noGrp="1"/>
            </p:cNvSpPr>
            <p:nvPr/>
          </p:nvSpPr>
          <p:spPr>
            <a:xfrm>
              <a:off x="4937" y="1780"/>
              <a:ext cx="2268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1" name="r121"/>
            <p:cNvSpPr>
              <a:spLocks noGrp="1"/>
            </p:cNvSpPr>
            <p:nvPr/>
          </p:nvSpPr>
          <p:spPr>
            <a:xfrm>
              <a:off x="5717" y="2016"/>
              <a:ext cx="709" cy="709"/>
            </a:xfrm>
            <a:prstGeom prst="round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1" name="t131"/>
            <p:cNvSpPr txBox="1"/>
            <p:nvPr/>
          </p:nvSpPr>
          <p:spPr>
            <a:xfrm>
              <a:off x="5717" y="2063"/>
              <a:ext cx="709" cy="61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FFFF"/>
                  </a:solidFill>
                  <a:latin typeface="Tahoma" panose="020B0604030504040204"/>
                </a:rPr>
                <a:t>2</a:t>
              </a:r>
            </a:p>
          </p:txBody>
        </p:sp>
        <p:sp>
          <p:nvSpPr>
            <p:cNvPr id="201" name="t201"/>
            <p:cNvSpPr txBox="1"/>
            <p:nvPr/>
          </p:nvSpPr>
          <p:spPr>
            <a:xfrm>
              <a:off x="5000" y="292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700" b="1" dirty="0">
                  <a:solidFill>
                    <a:srgbClr val="1F7A4E"/>
                  </a:solidFill>
                  <a:latin typeface="Tahoma" panose="020B0604030504040204"/>
                </a:rPr>
                <a:t>Commit</a:t>
              </a:r>
            </a:p>
          </p:txBody>
        </p:sp>
        <p:sp>
          <p:nvSpPr>
            <p:cNvPr id="301" name="t301"/>
            <p:cNvSpPr txBox="1"/>
            <p:nvPr/>
          </p:nvSpPr>
          <p:spPr>
            <a:xfrm>
              <a:off x="5031" y="3717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Snapshot with a message</a:t>
              </a:r>
            </a:p>
          </p:txBody>
        </p:sp>
      </p:grpSp>
      <p:sp>
        <p:nvSpPr>
          <p:cNvPr id="401" name="t401"/>
          <p:cNvSpPr txBox="1"/>
          <p:nvPr/>
        </p:nvSpPr>
        <p:spPr>
          <a:xfrm>
            <a:off x="4528820" y="2377440"/>
            <a:ext cx="99695" cy="34988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2000" dirty="0">
                <a:solidFill>
                  <a:srgbClr val="2E75B6"/>
                </a:solidFill>
                <a:latin typeface="Tahoma" panose="020B0604030504040204"/>
              </a:rPr>
              <a:t>→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852670" y="1130300"/>
            <a:ext cx="1440180" cy="3299460"/>
            <a:chOff x="7402" y="1780"/>
            <a:chExt cx="2268" cy="5196"/>
          </a:xfrm>
        </p:grpSpPr>
        <p:sp>
          <p:nvSpPr>
            <p:cNvPr id="112" name="r112"/>
            <p:cNvSpPr>
              <a:spLocks noGrp="1"/>
            </p:cNvSpPr>
            <p:nvPr/>
          </p:nvSpPr>
          <p:spPr>
            <a:xfrm>
              <a:off x="7402" y="1780"/>
              <a:ext cx="2268" cy="118"/>
            </a:xfrm>
            <a:prstGeom prst="rect">
              <a:avLst/>
            </a:prstGeom>
            <a:solidFill>
              <a:srgbClr val="C55A11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02" name="r102"/>
            <p:cNvSpPr>
              <a:spLocks noGrp="1"/>
            </p:cNvSpPr>
            <p:nvPr/>
          </p:nvSpPr>
          <p:spPr>
            <a:xfrm>
              <a:off x="7402" y="1780"/>
              <a:ext cx="2268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2" name="r122"/>
            <p:cNvSpPr>
              <a:spLocks noGrp="1"/>
            </p:cNvSpPr>
            <p:nvPr/>
          </p:nvSpPr>
          <p:spPr>
            <a:xfrm>
              <a:off x="8181" y="2016"/>
              <a:ext cx="709" cy="709"/>
            </a:xfrm>
            <a:prstGeom prst="roundRect">
              <a:avLst/>
            </a:prstGeom>
            <a:solidFill>
              <a:srgbClr val="C55A11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2" name="t132"/>
            <p:cNvSpPr txBox="1"/>
            <p:nvPr/>
          </p:nvSpPr>
          <p:spPr>
            <a:xfrm>
              <a:off x="8181" y="2063"/>
              <a:ext cx="709" cy="61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FFFF"/>
                  </a:solidFill>
                  <a:latin typeface="Tahoma" panose="020B0604030504040204"/>
                </a:rPr>
                <a:t>3</a:t>
              </a:r>
            </a:p>
          </p:txBody>
        </p:sp>
        <p:sp>
          <p:nvSpPr>
            <p:cNvPr id="202" name="t202"/>
            <p:cNvSpPr txBox="1"/>
            <p:nvPr/>
          </p:nvSpPr>
          <p:spPr>
            <a:xfrm>
              <a:off x="7465" y="292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700" b="1" dirty="0">
                  <a:solidFill>
                    <a:srgbClr val="C55A11"/>
                  </a:solidFill>
                  <a:latin typeface="Tahoma" panose="020B0604030504040204"/>
                </a:rPr>
                <a:t>Push</a:t>
              </a:r>
            </a:p>
          </p:txBody>
        </p:sp>
        <p:sp>
          <p:nvSpPr>
            <p:cNvPr id="302" name="t302"/>
            <p:cNvSpPr txBox="1"/>
            <p:nvPr/>
          </p:nvSpPr>
          <p:spPr>
            <a:xfrm>
              <a:off x="7496" y="3717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Upload to GitHub cloud</a:t>
              </a:r>
            </a:p>
          </p:txBody>
        </p:sp>
      </p:grpSp>
      <p:sp>
        <p:nvSpPr>
          <p:cNvPr id="402" name="t402"/>
          <p:cNvSpPr txBox="1"/>
          <p:nvPr/>
        </p:nvSpPr>
        <p:spPr>
          <a:xfrm>
            <a:off x="6246495" y="2377440"/>
            <a:ext cx="99695" cy="34988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2000" dirty="0">
                <a:solidFill>
                  <a:srgbClr val="2E75B6"/>
                </a:solidFill>
                <a:latin typeface="Tahoma" panose="020B0604030504040204"/>
              </a:rPr>
              <a:t>→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569710" y="1130300"/>
            <a:ext cx="1440180" cy="3299460"/>
            <a:chOff x="9866" y="1780"/>
            <a:chExt cx="2268" cy="5196"/>
          </a:xfrm>
        </p:grpSpPr>
        <p:sp>
          <p:nvSpPr>
            <p:cNvPr id="113" name="r113"/>
            <p:cNvSpPr>
              <a:spLocks noGrp="1"/>
            </p:cNvSpPr>
            <p:nvPr/>
          </p:nvSpPr>
          <p:spPr>
            <a:xfrm>
              <a:off x="9866" y="1780"/>
              <a:ext cx="2268" cy="118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03" name="r103"/>
            <p:cNvSpPr>
              <a:spLocks noGrp="1"/>
            </p:cNvSpPr>
            <p:nvPr/>
          </p:nvSpPr>
          <p:spPr>
            <a:xfrm>
              <a:off x="9866" y="1780"/>
              <a:ext cx="2268" cy="5197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3" name="r123"/>
            <p:cNvSpPr>
              <a:spLocks noGrp="1"/>
            </p:cNvSpPr>
            <p:nvPr/>
          </p:nvSpPr>
          <p:spPr>
            <a:xfrm>
              <a:off x="10646" y="2016"/>
              <a:ext cx="709" cy="709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3" name="t133"/>
            <p:cNvSpPr txBox="1"/>
            <p:nvPr/>
          </p:nvSpPr>
          <p:spPr>
            <a:xfrm>
              <a:off x="10646" y="2063"/>
              <a:ext cx="709" cy="614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FFFF"/>
                  </a:solidFill>
                  <a:latin typeface="Tahoma" panose="020B0604030504040204"/>
                </a:rPr>
                <a:t>4</a:t>
              </a:r>
            </a:p>
          </p:txBody>
        </p:sp>
        <p:sp>
          <p:nvSpPr>
            <p:cNvPr id="203" name="t203"/>
            <p:cNvSpPr txBox="1"/>
            <p:nvPr/>
          </p:nvSpPr>
          <p:spPr>
            <a:xfrm>
              <a:off x="9929" y="292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700" b="1" dirty="0">
                  <a:solidFill>
                    <a:srgbClr val="7030A0"/>
                  </a:solidFill>
                  <a:latin typeface="Tahoma" panose="020B0604030504040204"/>
                </a:rPr>
                <a:t>Pull</a:t>
              </a:r>
            </a:p>
          </p:txBody>
        </p:sp>
        <p:sp>
          <p:nvSpPr>
            <p:cNvPr id="303" name="t303"/>
            <p:cNvSpPr txBox="1"/>
            <p:nvPr/>
          </p:nvSpPr>
          <p:spPr>
            <a:xfrm>
              <a:off x="9961" y="3717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Download team updates</a:t>
              </a:r>
            </a:p>
          </p:txBody>
        </p:sp>
      </p:grpSp>
      <p:sp>
        <p:nvSpPr>
          <p:cNvPr id="700" name="r700"/>
          <p:cNvSpPr>
            <a:spLocks noGrp="1"/>
          </p:cNvSpPr>
          <p:nvPr/>
        </p:nvSpPr>
        <p:spPr>
          <a:xfrm>
            <a:off x="1540000" y="5029415"/>
            <a:ext cx="6100000" cy="5800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800" name="t800"/>
          <p:cNvSpPr txBox="1"/>
          <p:nvPr/>
        </p:nvSpPr>
        <p:spPr>
          <a:xfrm>
            <a:off x="1687625" y="5149740"/>
            <a:ext cx="5900000" cy="46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300" dirty="0">
                <a:solidFill>
                  <a:srgbClr val="00CC66"/>
                </a:solidFill>
                <a:latin typeface="Tahoma" panose="020B0604030504040204"/>
              </a:rPr>
              <a:t>$ git add .   →   $ git commit -m "New feature"   →   $ git push origin main</a:t>
            </a: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448085" y="45749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Branching — Parallel Paths, One Goal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200" name="t200"/>
          <p:cNvSpPr txBox="1"/>
          <p:nvPr/>
        </p:nvSpPr>
        <p:spPr>
          <a:xfrm>
            <a:off x="1523965" y="2666855"/>
            <a:ext cx="900000" cy="35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600" b="1" dirty="0">
                <a:solidFill>
                  <a:srgbClr val="1F7A4E"/>
                </a:solidFill>
                <a:latin typeface="Tahoma" panose="020B0604030504040204"/>
              </a:rPr>
              <a:t>main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447800" y="1663700"/>
            <a:ext cx="6499860" cy="2899410"/>
            <a:chOff x="2520" y="1780"/>
            <a:chExt cx="10236" cy="4566"/>
          </a:xfrm>
        </p:grpSpPr>
        <p:sp>
          <p:nvSpPr>
            <p:cNvPr id="100" name="r100"/>
            <p:cNvSpPr>
              <a:spLocks noGrp="1"/>
            </p:cNvSpPr>
            <p:nvPr/>
          </p:nvSpPr>
          <p:spPr>
            <a:xfrm>
              <a:off x="2520" y="4094"/>
              <a:ext cx="7244" cy="87"/>
            </a:xfrm>
            <a:prstGeom prst="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960" y="1780"/>
              <a:ext cx="8796" cy="4566"/>
              <a:chOff x="3960" y="1780"/>
              <a:chExt cx="8796" cy="4566"/>
            </a:xfrm>
          </p:grpSpPr>
          <p:sp>
            <p:nvSpPr>
              <p:cNvPr id="101" name="r101"/>
              <p:cNvSpPr>
                <a:spLocks noGrp="1"/>
              </p:cNvSpPr>
              <p:nvPr/>
            </p:nvSpPr>
            <p:spPr>
              <a:xfrm>
                <a:off x="4094" y="2835"/>
                <a:ext cx="2835" cy="87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02" name="r102"/>
              <p:cNvSpPr>
                <a:spLocks noGrp="1"/>
              </p:cNvSpPr>
              <p:nvPr/>
            </p:nvSpPr>
            <p:spPr>
              <a:xfrm>
                <a:off x="5512" y="5354"/>
                <a:ext cx="2992" cy="87"/>
              </a:xfrm>
              <a:prstGeom prst="rect">
                <a:avLst/>
              </a:prstGeom>
              <a:solidFill>
                <a:srgbClr val="C55A11"/>
              </a:solidFill>
              <a:ln>
                <a:solidFill>
                  <a:srgbClr val="C55A11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03" name="r103"/>
              <p:cNvSpPr>
                <a:spLocks noGrp="1"/>
              </p:cNvSpPr>
              <p:nvPr/>
            </p:nvSpPr>
            <p:spPr>
              <a:xfrm>
                <a:off x="4094" y="2835"/>
                <a:ext cx="87" cy="1346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04" name="r104"/>
              <p:cNvSpPr>
                <a:spLocks noGrp="1"/>
              </p:cNvSpPr>
              <p:nvPr/>
            </p:nvSpPr>
            <p:spPr>
              <a:xfrm>
                <a:off x="6929" y="2835"/>
                <a:ext cx="87" cy="1346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05" name="r105"/>
              <p:cNvSpPr>
                <a:spLocks noGrp="1"/>
              </p:cNvSpPr>
              <p:nvPr/>
            </p:nvSpPr>
            <p:spPr>
              <a:xfrm>
                <a:off x="5512" y="4181"/>
                <a:ext cx="87" cy="1260"/>
              </a:xfrm>
              <a:prstGeom prst="rect">
                <a:avLst/>
              </a:prstGeom>
              <a:solidFill>
                <a:srgbClr val="C55A11"/>
              </a:solidFill>
              <a:ln>
                <a:solidFill>
                  <a:srgbClr val="C55A11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06" name="r106"/>
              <p:cNvSpPr>
                <a:spLocks noGrp="1"/>
              </p:cNvSpPr>
              <p:nvPr/>
            </p:nvSpPr>
            <p:spPr>
              <a:xfrm>
                <a:off x="8504" y="4181"/>
                <a:ext cx="87" cy="1260"/>
              </a:xfrm>
              <a:prstGeom prst="rect">
                <a:avLst/>
              </a:prstGeom>
              <a:solidFill>
                <a:srgbClr val="C55A11"/>
              </a:solidFill>
              <a:ln>
                <a:solidFill>
                  <a:srgbClr val="C55A11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201" name="t201"/>
              <p:cNvSpPr txBox="1"/>
              <p:nvPr/>
            </p:nvSpPr>
            <p:spPr>
              <a:xfrm>
                <a:off x="3960" y="1910"/>
                <a:ext cx="2272" cy="618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2E75B6"/>
                    </a:solidFill>
                    <a:latin typeface="Tahoma" panose="020B0604030504040204"/>
                  </a:rPr>
                  <a:t>feature/login</a:t>
                </a:r>
              </a:p>
            </p:txBody>
          </p:sp>
          <p:sp>
            <p:nvSpPr>
              <p:cNvPr id="202" name="t202"/>
              <p:cNvSpPr txBox="1"/>
              <p:nvPr/>
            </p:nvSpPr>
            <p:spPr>
              <a:xfrm>
                <a:off x="5512" y="5748"/>
                <a:ext cx="1890" cy="52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b="1" dirty="0">
                    <a:solidFill>
                      <a:srgbClr val="C55A11"/>
                    </a:solidFill>
                    <a:latin typeface="Tahoma" panose="020B0604030504040204"/>
                  </a:rPr>
                  <a:t>fix/crash-bug</a:t>
                </a:r>
              </a:p>
            </p:txBody>
          </p:sp>
          <p:sp>
            <p:nvSpPr>
              <p:cNvPr id="300" name="r300"/>
              <p:cNvSpPr>
                <a:spLocks noGrp="1"/>
              </p:cNvSpPr>
              <p:nvPr/>
            </p:nvSpPr>
            <p:spPr>
              <a:xfrm>
                <a:off x="7638" y="1780"/>
                <a:ext cx="5119" cy="4567"/>
              </a:xfrm>
              <a:prstGeom prst="rect">
                <a:avLst/>
              </a:prstGeom>
              <a:solidFill>
                <a:srgbClr val="F2F7FF"/>
              </a:solidFill>
              <a:ln>
                <a:solidFill>
                  <a:srgbClr val="BDD7EE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301" name="t301"/>
              <p:cNvSpPr txBox="1"/>
              <p:nvPr/>
            </p:nvSpPr>
            <p:spPr>
              <a:xfrm>
                <a:off x="7795" y="1969"/>
                <a:ext cx="3937" cy="598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700" b="1" dirty="0">
                    <a:solidFill>
                      <a:srgbClr val="1F3864"/>
                    </a:solidFill>
                    <a:latin typeface="Tahoma" panose="020B0604030504040204"/>
                  </a:rPr>
                  <a:t>What is a Branch?</a:t>
                </a:r>
              </a:p>
            </p:txBody>
          </p:sp>
          <p:sp>
            <p:nvSpPr>
              <p:cNvPr id="400" name="t400"/>
              <p:cNvSpPr txBox="1"/>
              <p:nvPr/>
            </p:nvSpPr>
            <p:spPr>
              <a:xfrm>
                <a:off x="7795" y="2756"/>
                <a:ext cx="4357" cy="483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1F7A4E"/>
                    </a:solidFill>
                    <a:latin typeface="Tahoma" panose="020B0604030504040204"/>
                  </a:rPr>
                  <a:t>main  —  Always working code</a:t>
                </a:r>
              </a:p>
            </p:txBody>
          </p:sp>
          <p:sp>
            <p:nvSpPr>
              <p:cNvPr id="401" name="t401"/>
              <p:cNvSpPr txBox="1"/>
              <p:nvPr/>
            </p:nvSpPr>
            <p:spPr>
              <a:xfrm>
                <a:off x="7795" y="3575"/>
                <a:ext cx="3937" cy="661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2E75B6"/>
                    </a:solidFill>
                    <a:latin typeface="Tahoma" panose="020B0604030504040204"/>
                  </a:rPr>
                  <a:t>feature  —  Test new work</a:t>
                </a:r>
              </a:p>
            </p:txBody>
          </p:sp>
          <p:sp>
            <p:nvSpPr>
              <p:cNvPr id="402" name="t402"/>
              <p:cNvSpPr txBox="1"/>
              <p:nvPr/>
            </p:nvSpPr>
            <p:spPr>
              <a:xfrm>
                <a:off x="7795" y="4394"/>
                <a:ext cx="3937" cy="661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C55A11"/>
                    </a:solidFill>
                    <a:latin typeface="Tahoma" panose="020B0604030504040204"/>
                  </a:rPr>
                  <a:t>fix  —  Bug fixes safely</a:t>
                </a:r>
              </a:p>
            </p:txBody>
          </p:sp>
          <p:sp>
            <p:nvSpPr>
              <p:cNvPr id="403" name="t403"/>
              <p:cNvSpPr txBox="1"/>
              <p:nvPr/>
            </p:nvSpPr>
            <p:spPr>
              <a:xfrm>
                <a:off x="7795" y="5213"/>
                <a:ext cx="4596" cy="483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7030A0"/>
                    </a:solidFill>
                    <a:latin typeface="Tahoma" panose="020B0604030504040204"/>
                  </a:rPr>
                  <a:t>Merge  —  Combine when ready</a:t>
                </a:r>
              </a:p>
            </p:txBody>
          </p:sp>
        </p:grpSp>
      </p:grpSp>
      <p:sp>
        <p:nvSpPr>
          <p:cNvPr id="500" name="r500"/>
          <p:cNvSpPr>
            <a:spLocks noGrp="1"/>
          </p:cNvSpPr>
          <p:nvPr/>
        </p:nvSpPr>
        <p:spPr>
          <a:xfrm>
            <a:off x="1540000" y="5150000"/>
            <a:ext cx="6100000" cy="580000"/>
          </a:xfrm>
          <a:prstGeom prst="rect">
            <a:avLst/>
          </a:prstGeom>
          <a:solidFill>
            <a:srgbClr val="EEF3FB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01" name="t501"/>
          <p:cNvSpPr txBox="1"/>
          <p:nvPr/>
        </p:nvSpPr>
        <p:spPr>
          <a:xfrm>
            <a:off x="1640000" y="5220000"/>
            <a:ext cx="590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dirty="0">
                <a:solidFill>
                  <a:srgbClr val="1F3864"/>
                </a:solidFill>
                <a:latin typeface="Tahoma" panose="020B0604030504040204"/>
              </a:rPr>
              <a:t>💡  Every developer works in their own branch — main stays safe!</a:t>
            </a: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605565" y="30509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Pull Requests &amp; Code Review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264920" y="1435100"/>
            <a:ext cx="1440180" cy="2700020"/>
            <a:chOff x="2472" y="2260"/>
            <a:chExt cx="2268" cy="4252"/>
          </a:xfrm>
        </p:grpSpPr>
        <p:sp>
          <p:nvSpPr>
            <p:cNvPr id="100" name="r100"/>
            <p:cNvSpPr>
              <a:spLocks noGrp="1"/>
            </p:cNvSpPr>
            <p:nvPr/>
          </p:nvSpPr>
          <p:spPr>
            <a:xfrm>
              <a:off x="2472" y="2260"/>
              <a:ext cx="2268" cy="4252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0" name="r110"/>
            <p:cNvSpPr>
              <a:spLocks noGrp="1"/>
            </p:cNvSpPr>
            <p:nvPr/>
          </p:nvSpPr>
          <p:spPr>
            <a:xfrm>
              <a:off x="2472" y="2260"/>
              <a:ext cx="2268" cy="118"/>
            </a:xfrm>
            <a:prstGeom prst="rect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0" name="r120"/>
            <p:cNvSpPr>
              <a:spLocks noGrp="1"/>
            </p:cNvSpPr>
            <p:nvPr/>
          </p:nvSpPr>
          <p:spPr>
            <a:xfrm>
              <a:off x="3252" y="2496"/>
              <a:ext cx="709" cy="709"/>
            </a:xfrm>
            <a:prstGeom prst="roundRect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0" name="t130"/>
            <p:cNvSpPr txBox="1"/>
            <p:nvPr/>
          </p:nvSpPr>
          <p:spPr>
            <a:xfrm>
              <a:off x="3252" y="2535"/>
              <a:ext cx="709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b="1" dirty="0">
                  <a:solidFill>
                    <a:srgbClr val="FFFFFF"/>
                  </a:solidFill>
                  <a:latin typeface="Tahoma" panose="020B0604030504040204"/>
                </a:rPr>
                <a:t>1</a:t>
              </a:r>
            </a:p>
          </p:txBody>
        </p:sp>
        <p:sp>
          <p:nvSpPr>
            <p:cNvPr id="200" name="t200"/>
            <p:cNvSpPr txBox="1"/>
            <p:nvPr/>
          </p:nvSpPr>
          <p:spPr>
            <a:xfrm>
              <a:off x="2535" y="340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2E75B6"/>
                  </a:solidFill>
                  <a:latin typeface="Tahoma" panose="020B0604030504040204"/>
                </a:rPr>
                <a:t>Write Code</a:t>
              </a:r>
            </a:p>
          </p:txBody>
        </p:sp>
        <p:sp>
          <p:nvSpPr>
            <p:cNvPr id="300" name="t300"/>
            <p:cNvSpPr txBox="1"/>
            <p:nvPr/>
          </p:nvSpPr>
          <p:spPr>
            <a:xfrm>
              <a:off x="2567" y="4149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Developer built
a new feature</a:t>
              </a:r>
            </a:p>
          </p:txBody>
        </p:sp>
      </p:grpSp>
      <p:sp>
        <p:nvSpPr>
          <p:cNvPr id="400" name="t400"/>
          <p:cNvSpPr txBox="1"/>
          <p:nvPr/>
        </p:nvSpPr>
        <p:spPr>
          <a:xfrm>
            <a:off x="2658745" y="2585085"/>
            <a:ext cx="99695" cy="34988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900" dirty="0">
                <a:solidFill>
                  <a:srgbClr val="2E75B6"/>
                </a:solidFill>
                <a:latin typeface="Tahoma" panose="020B0604030504040204"/>
              </a:rPr>
              <a:t>→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982595" y="1435100"/>
            <a:ext cx="1440180" cy="2700020"/>
            <a:chOff x="4937" y="2260"/>
            <a:chExt cx="2268" cy="4252"/>
          </a:xfrm>
        </p:grpSpPr>
        <p:sp>
          <p:nvSpPr>
            <p:cNvPr id="101" name="r101"/>
            <p:cNvSpPr>
              <a:spLocks noGrp="1"/>
            </p:cNvSpPr>
            <p:nvPr/>
          </p:nvSpPr>
          <p:spPr>
            <a:xfrm>
              <a:off x="4937" y="2260"/>
              <a:ext cx="2268" cy="4252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1" name="r111"/>
            <p:cNvSpPr>
              <a:spLocks noGrp="1"/>
            </p:cNvSpPr>
            <p:nvPr/>
          </p:nvSpPr>
          <p:spPr>
            <a:xfrm>
              <a:off x="4937" y="2260"/>
              <a:ext cx="2268" cy="118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1" name="r121"/>
            <p:cNvSpPr>
              <a:spLocks noGrp="1"/>
            </p:cNvSpPr>
            <p:nvPr/>
          </p:nvSpPr>
          <p:spPr>
            <a:xfrm>
              <a:off x="5717" y="2496"/>
              <a:ext cx="709" cy="709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1" name="t131"/>
            <p:cNvSpPr txBox="1"/>
            <p:nvPr/>
          </p:nvSpPr>
          <p:spPr>
            <a:xfrm>
              <a:off x="5717" y="2535"/>
              <a:ext cx="709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b="1" dirty="0">
                  <a:solidFill>
                    <a:srgbClr val="FFFFFF"/>
                  </a:solidFill>
                  <a:latin typeface="Tahoma" panose="020B0604030504040204"/>
                </a:rPr>
                <a:t>2</a:t>
              </a:r>
            </a:p>
          </p:txBody>
        </p:sp>
        <p:sp>
          <p:nvSpPr>
            <p:cNvPr id="201" name="t201"/>
            <p:cNvSpPr txBox="1"/>
            <p:nvPr/>
          </p:nvSpPr>
          <p:spPr>
            <a:xfrm>
              <a:off x="5000" y="340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7030A0"/>
                  </a:solidFill>
                  <a:latin typeface="Tahoma" panose="020B0604030504040204"/>
                </a:rPr>
                <a:t>Open PR</a:t>
              </a:r>
            </a:p>
          </p:txBody>
        </p:sp>
        <p:sp>
          <p:nvSpPr>
            <p:cNvPr id="301" name="t301"/>
            <p:cNvSpPr txBox="1"/>
            <p:nvPr/>
          </p:nvSpPr>
          <p:spPr>
            <a:xfrm>
              <a:off x="5031" y="4149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"Please merge
my changes!"</a:t>
              </a:r>
            </a:p>
          </p:txBody>
        </p:sp>
      </p:grpSp>
      <p:sp>
        <p:nvSpPr>
          <p:cNvPr id="401" name="t401"/>
          <p:cNvSpPr txBox="1"/>
          <p:nvPr/>
        </p:nvSpPr>
        <p:spPr>
          <a:xfrm>
            <a:off x="4376420" y="2585085"/>
            <a:ext cx="99695" cy="34988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900" dirty="0">
                <a:solidFill>
                  <a:srgbClr val="2E75B6"/>
                </a:solidFill>
                <a:latin typeface="Tahoma" panose="020B0604030504040204"/>
              </a:rPr>
              <a:t>→</a:t>
            </a:r>
          </a:p>
        </p:txBody>
      </p:sp>
      <p:sp>
        <p:nvSpPr>
          <p:cNvPr id="102" name="r102"/>
          <p:cNvSpPr>
            <a:spLocks noGrp="1"/>
          </p:cNvSpPr>
          <p:nvPr/>
        </p:nvSpPr>
        <p:spPr>
          <a:xfrm>
            <a:off x="4700270" y="1435100"/>
            <a:ext cx="1440180" cy="2700020"/>
          </a:xfrm>
          <a:prstGeom prst="rect">
            <a:avLst/>
          </a:prstGeom>
          <a:solidFill>
            <a:srgbClr val="F2F7FF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2" name="r112"/>
          <p:cNvSpPr>
            <a:spLocks noGrp="1"/>
          </p:cNvSpPr>
          <p:nvPr/>
        </p:nvSpPr>
        <p:spPr>
          <a:xfrm>
            <a:off x="4700270" y="1435100"/>
            <a:ext cx="1440180" cy="7493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22" name="r122"/>
          <p:cNvSpPr>
            <a:spLocks noGrp="1"/>
          </p:cNvSpPr>
          <p:nvPr/>
        </p:nvSpPr>
        <p:spPr>
          <a:xfrm>
            <a:off x="5194935" y="1584960"/>
            <a:ext cx="450215" cy="450215"/>
          </a:xfrm>
          <a:prstGeom prst="round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32" name="t132"/>
          <p:cNvSpPr txBox="1"/>
          <p:nvPr/>
        </p:nvSpPr>
        <p:spPr>
          <a:xfrm>
            <a:off x="5194935" y="1609725"/>
            <a:ext cx="450215" cy="40005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900" b="1" dirty="0">
                <a:solidFill>
                  <a:srgbClr val="FFFFFF"/>
                </a:solidFill>
                <a:latin typeface="Tahoma" panose="020B0604030504040204"/>
              </a:rPr>
              <a:t>3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4740275" y="2164715"/>
            <a:ext cx="1360170" cy="40005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600" b="1" dirty="0">
                <a:solidFill>
                  <a:srgbClr val="C55A11"/>
                </a:solidFill>
                <a:latin typeface="Tahoma" panose="020B0604030504040204"/>
              </a:rPr>
              <a:t>Review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4759960" y="2634615"/>
            <a:ext cx="1320165" cy="89979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Team checks
&amp; comments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6094095" y="2585085"/>
            <a:ext cx="99695" cy="349885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900" dirty="0">
                <a:solidFill>
                  <a:srgbClr val="2E75B6"/>
                </a:solidFill>
                <a:latin typeface="Tahoma" panose="020B0604030504040204"/>
              </a:rPr>
              <a:t>→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6417310" y="1435100"/>
            <a:ext cx="1440180" cy="2700020"/>
            <a:chOff x="9866" y="2260"/>
            <a:chExt cx="2268" cy="4252"/>
          </a:xfrm>
        </p:grpSpPr>
        <p:sp>
          <p:nvSpPr>
            <p:cNvPr id="103" name="r103"/>
            <p:cNvSpPr>
              <a:spLocks noGrp="1"/>
            </p:cNvSpPr>
            <p:nvPr/>
          </p:nvSpPr>
          <p:spPr>
            <a:xfrm>
              <a:off x="9866" y="2260"/>
              <a:ext cx="2268" cy="4252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3" name="r113"/>
            <p:cNvSpPr>
              <a:spLocks noGrp="1"/>
            </p:cNvSpPr>
            <p:nvPr/>
          </p:nvSpPr>
          <p:spPr>
            <a:xfrm>
              <a:off x="9866" y="2260"/>
              <a:ext cx="2268" cy="118"/>
            </a:xfrm>
            <a:prstGeom prst="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3" name="r123"/>
            <p:cNvSpPr>
              <a:spLocks noGrp="1"/>
            </p:cNvSpPr>
            <p:nvPr/>
          </p:nvSpPr>
          <p:spPr>
            <a:xfrm>
              <a:off x="10646" y="2496"/>
              <a:ext cx="709" cy="709"/>
            </a:xfrm>
            <a:prstGeom prst="round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3" name="t133"/>
            <p:cNvSpPr txBox="1"/>
            <p:nvPr/>
          </p:nvSpPr>
          <p:spPr>
            <a:xfrm>
              <a:off x="10646" y="2535"/>
              <a:ext cx="709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b="1" dirty="0">
                  <a:solidFill>
                    <a:srgbClr val="FFFFFF"/>
                  </a:solidFill>
                  <a:latin typeface="Tahoma" panose="020B0604030504040204"/>
                </a:rPr>
                <a:t>4</a:t>
              </a:r>
            </a:p>
          </p:txBody>
        </p:sp>
        <p:sp>
          <p:nvSpPr>
            <p:cNvPr id="203" name="t203"/>
            <p:cNvSpPr txBox="1"/>
            <p:nvPr/>
          </p:nvSpPr>
          <p:spPr>
            <a:xfrm>
              <a:off x="9929" y="3409"/>
              <a:ext cx="2142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1F7A4E"/>
                  </a:solidFill>
                  <a:latin typeface="Tahoma" panose="020B0604030504040204"/>
                </a:rPr>
                <a:t>Merged!</a:t>
              </a:r>
            </a:p>
          </p:txBody>
        </p:sp>
        <p:sp>
          <p:nvSpPr>
            <p:cNvPr id="303" name="t303"/>
            <p:cNvSpPr txBox="1"/>
            <p:nvPr/>
          </p:nvSpPr>
          <p:spPr>
            <a:xfrm>
              <a:off x="9961" y="4149"/>
              <a:ext cx="2079" cy="141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606060"/>
                  </a:solidFill>
                  <a:latin typeface="Tahoma" panose="020B0604030504040204"/>
                </a:rPr>
                <a:t>Approved &amp;
added to main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447800" y="4461510"/>
            <a:ext cx="6104255" cy="1464310"/>
            <a:chOff x="2425" y="6480"/>
            <a:chExt cx="9613" cy="2306"/>
          </a:xfrm>
        </p:grpSpPr>
        <p:sp>
          <p:nvSpPr>
            <p:cNvPr id="500" name="r500"/>
            <p:cNvSpPr>
              <a:spLocks noGrp="1"/>
            </p:cNvSpPr>
            <p:nvPr/>
          </p:nvSpPr>
          <p:spPr>
            <a:xfrm>
              <a:off x="2425" y="6504"/>
              <a:ext cx="9606" cy="2283"/>
            </a:xfrm>
            <a:prstGeom prst="rect">
              <a:avLst/>
            </a:prstGeom>
            <a:solidFill>
              <a:srgbClr val="F8FBFF"/>
            </a:solidFill>
            <a:ln>
              <a:solidFill>
                <a:srgbClr val="BDD7E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501" name="r501"/>
            <p:cNvSpPr>
              <a:spLocks noGrp="1"/>
            </p:cNvSpPr>
            <p:nvPr/>
          </p:nvSpPr>
          <p:spPr>
            <a:xfrm>
              <a:off x="2425" y="6504"/>
              <a:ext cx="9606" cy="315"/>
            </a:xfrm>
            <a:prstGeom prst="rect">
              <a:avLst/>
            </a:prstGeom>
            <a:solidFill>
              <a:srgbClr val="EEF3FB"/>
            </a:solidFill>
            <a:ln>
              <a:solidFill>
                <a:srgbClr val="BDD7E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502" name="t502"/>
            <p:cNvSpPr txBox="1"/>
            <p:nvPr/>
          </p:nvSpPr>
          <p:spPr>
            <a:xfrm>
              <a:off x="2520" y="6480"/>
              <a:ext cx="1890" cy="47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1F7A4E"/>
                  </a:solidFill>
                  <a:latin typeface="Tahoma" panose="020B0604030504040204"/>
                </a:rPr>
                <a:t>✅ Open</a:t>
              </a:r>
            </a:p>
          </p:txBody>
        </p:sp>
        <p:sp>
          <p:nvSpPr>
            <p:cNvPr id="504" name="t504"/>
            <p:cNvSpPr txBox="1"/>
            <p:nvPr/>
          </p:nvSpPr>
          <p:spPr>
            <a:xfrm>
              <a:off x="2598" y="7087"/>
              <a:ext cx="8819" cy="47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09090"/>
                  </a:solidFill>
                  <a:latin typeface="Tahoma" panose="020B0604030504040204"/>
                </a:rPr>
                <a:t>#247  opened 2 hrs ago by ali-dev  |  3 files changed  |  +152 -23  |  2 reviewers</a:t>
              </a:r>
            </a:p>
          </p:txBody>
        </p:sp>
        <p:sp>
          <p:nvSpPr>
            <p:cNvPr id="505" name="r505"/>
            <p:cNvSpPr>
              <a:spLocks noGrp="1"/>
            </p:cNvSpPr>
            <p:nvPr/>
          </p:nvSpPr>
          <p:spPr>
            <a:xfrm>
              <a:off x="10610" y="7080"/>
              <a:ext cx="1339" cy="749"/>
            </a:xfrm>
            <a:prstGeom prst="round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506" name="t506"/>
            <p:cNvSpPr txBox="1"/>
            <p:nvPr/>
          </p:nvSpPr>
          <p:spPr>
            <a:xfrm>
              <a:off x="10700" y="7089"/>
              <a:ext cx="1339" cy="777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noAutofit/>
            </a:bodyPr>
            <a:lstStyle/>
            <a:p>
              <a:pPr algn="l"/>
              <a:r>
                <a:rPr lang="en-US" sz="1300" b="1" dirty="0">
                  <a:solidFill>
                    <a:srgbClr val="FFFFFF"/>
                  </a:solidFill>
                  <a:latin typeface="Tahoma" panose="020B0604030504040204"/>
                </a:rPr>
                <a:t>Merge PR</a:t>
              </a:r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530000" y="37240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Issues &amp; Project Management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100" name="r100"/>
          <p:cNvSpPr>
            <a:spLocks noGrp="1"/>
          </p:cNvSpPr>
          <p:nvPr/>
        </p:nvSpPr>
        <p:spPr>
          <a:xfrm>
            <a:off x="1540000" y="1130000"/>
            <a:ext cx="3700000" cy="1180000"/>
          </a:xfrm>
          <a:prstGeom prst="rect">
            <a:avLst/>
          </a:prstGeom>
          <a:solidFill>
            <a:srgbClr val="F2F7FF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0" name="r110"/>
          <p:cNvSpPr>
            <a:spLocks noGrp="1"/>
          </p:cNvSpPr>
          <p:nvPr/>
        </p:nvSpPr>
        <p:spPr>
          <a:xfrm>
            <a:off x="1540000" y="1130000"/>
            <a:ext cx="60000" cy="118000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00" name="t200"/>
          <p:cNvSpPr txBox="1"/>
          <p:nvPr/>
        </p:nvSpPr>
        <p:spPr>
          <a:xfrm>
            <a:off x="1660000" y="1250000"/>
            <a:ext cx="3500000" cy="43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C55A11"/>
                </a:solidFill>
                <a:latin typeface="Tahoma" panose="020B0604030504040204"/>
              </a:rPr>
              <a:t>🐛  Bug Report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1660000" y="1770000"/>
            <a:ext cx="3500000" cy="40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Something broken — needs fixing!</a:t>
            </a:r>
          </a:p>
        </p:txBody>
      </p:sp>
      <p:sp>
        <p:nvSpPr>
          <p:cNvPr id="101" name="r101"/>
          <p:cNvSpPr>
            <a:spLocks noGrp="1"/>
          </p:cNvSpPr>
          <p:nvPr/>
        </p:nvSpPr>
        <p:spPr>
          <a:xfrm>
            <a:off x="1540000" y="2470000"/>
            <a:ext cx="3700000" cy="1180000"/>
          </a:xfrm>
          <a:prstGeom prst="rect">
            <a:avLst/>
          </a:prstGeom>
          <a:solidFill>
            <a:srgbClr val="F2F7FF"/>
          </a:solidFill>
          <a:ln>
            <a:solidFill>
              <a:srgbClr val="2E75B6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1" name="r111"/>
          <p:cNvSpPr>
            <a:spLocks noGrp="1"/>
          </p:cNvSpPr>
          <p:nvPr/>
        </p:nvSpPr>
        <p:spPr>
          <a:xfrm>
            <a:off x="1540000" y="2470000"/>
            <a:ext cx="60000" cy="118000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01" name="t201"/>
          <p:cNvSpPr txBox="1"/>
          <p:nvPr/>
        </p:nvSpPr>
        <p:spPr>
          <a:xfrm>
            <a:off x="1660000" y="2590000"/>
            <a:ext cx="3500000" cy="43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2E75B6"/>
                </a:solidFill>
                <a:latin typeface="Tahoma" panose="020B0604030504040204"/>
              </a:rPr>
              <a:t>🚀  Feature Request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1660000" y="3110000"/>
            <a:ext cx="3500000" cy="40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Add new functionality to project</a:t>
            </a:r>
          </a:p>
        </p:txBody>
      </p:sp>
      <p:sp>
        <p:nvSpPr>
          <p:cNvPr id="102" name="r102"/>
          <p:cNvSpPr>
            <a:spLocks noGrp="1"/>
          </p:cNvSpPr>
          <p:nvPr/>
        </p:nvSpPr>
        <p:spPr>
          <a:xfrm>
            <a:off x="1540000" y="3810000"/>
            <a:ext cx="3700000" cy="1180000"/>
          </a:xfrm>
          <a:prstGeom prst="rect">
            <a:avLst/>
          </a:prstGeom>
          <a:solidFill>
            <a:srgbClr val="F2F7FF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2" name="r112"/>
          <p:cNvSpPr>
            <a:spLocks noGrp="1"/>
          </p:cNvSpPr>
          <p:nvPr/>
        </p:nvSpPr>
        <p:spPr>
          <a:xfrm>
            <a:off x="1540000" y="3810000"/>
            <a:ext cx="60000" cy="11800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02" name="t202"/>
          <p:cNvSpPr txBox="1"/>
          <p:nvPr/>
        </p:nvSpPr>
        <p:spPr>
          <a:xfrm>
            <a:off x="1660000" y="3930000"/>
            <a:ext cx="3500000" cy="43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7030A0"/>
                </a:solidFill>
                <a:latin typeface="Tahoma" panose="020B0604030504040204"/>
              </a:rPr>
              <a:t>✨  Enhancement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1660000" y="4450000"/>
            <a:ext cx="3500000" cy="40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400" dirty="0">
                <a:solidFill>
                  <a:srgbClr val="606060"/>
                </a:solidFill>
                <a:latin typeface="Tahoma" panose="020B0604030504040204"/>
              </a:rPr>
              <a:t>Improve existing features</a:t>
            </a:r>
          </a:p>
        </p:txBody>
      </p:sp>
      <p:sp>
        <p:nvSpPr>
          <p:cNvPr id="400" name="t400"/>
          <p:cNvSpPr txBox="1"/>
          <p:nvPr/>
        </p:nvSpPr>
        <p:spPr>
          <a:xfrm>
            <a:off x="5500000" y="1080000"/>
            <a:ext cx="2200000" cy="38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700" b="1" dirty="0">
                <a:solidFill>
                  <a:srgbClr val="1F3864"/>
                </a:solidFill>
                <a:latin typeface="Tahoma" panose="020B0604030504040204"/>
              </a:rPr>
              <a:t>Project Board</a:t>
            </a:r>
          </a:p>
        </p:txBody>
      </p:sp>
      <p:sp>
        <p:nvSpPr>
          <p:cNvPr id="500" name="r500"/>
          <p:cNvSpPr>
            <a:spLocks noGrp="1"/>
          </p:cNvSpPr>
          <p:nvPr/>
        </p:nvSpPr>
        <p:spPr>
          <a:xfrm>
            <a:off x="5480000" y="1510000"/>
            <a:ext cx="700000" cy="3700000"/>
          </a:xfrm>
          <a:prstGeom prst="rect">
            <a:avLst/>
          </a:prstGeom>
          <a:solidFill>
            <a:srgbClr val="EEF3FB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10" name="r510"/>
          <p:cNvSpPr>
            <a:spLocks noGrp="1"/>
          </p:cNvSpPr>
          <p:nvPr/>
        </p:nvSpPr>
        <p:spPr>
          <a:xfrm>
            <a:off x="5480000" y="1510000"/>
            <a:ext cx="700000" cy="80000"/>
          </a:xfrm>
          <a:prstGeom prst="rect">
            <a:avLst/>
          </a:prstGeom>
          <a:solidFill>
            <a:srgbClr val="909090"/>
          </a:solidFill>
          <a:ln>
            <a:solidFill>
              <a:srgbClr val="909090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20" name="t520"/>
          <p:cNvSpPr txBox="1"/>
          <p:nvPr/>
        </p:nvSpPr>
        <p:spPr>
          <a:xfrm>
            <a:off x="5480000" y="1600000"/>
            <a:ext cx="700000" cy="30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b="1" dirty="0">
                <a:solidFill>
                  <a:srgbClr val="909090"/>
                </a:solidFill>
                <a:latin typeface="Tahoma" panose="020B0604030504040204"/>
              </a:rPr>
              <a:t>To Do</a:t>
            </a:r>
          </a:p>
        </p:txBody>
      </p:sp>
      <p:sp>
        <p:nvSpPr>
          <p:cNvPr id="600" name="r600"/>
          <p:cNvSpPr>
            <a:spLocks noGrp="1"/>
          </p:cNvSpPr>
          <p:nvPr/>
        </p:nvSpPr>
        <p:spPr>
          <a:xfrm>
            <a:off x="5520000" y="2010000"/>
            <a:ext cx="620000" cy="680000"/>
          </a:xfrm>
          <a:prstGeom prst="rect">
            <a:avLst/>
          </a:prstGeom>
          <a:solidFill>
            <a:srgbClr val="FFFF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700" name="t700"/>
          <p:cNvSpPr txBox="1"/>
          <p:nvPr/>
        </p:nvSpPr>
        <p:spPr>
          <a:xfrm>
            <a:off x="5520000" y="2130000"/>
            <a:ext cx="62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Tahoma" panose="020B0604030504040204"/>
              </a:rPr>
              <a:t>Login UI</a:t>
            </a:r>
          </a:p>
        </p:txBody>
      </p:sp>
      <p:sp>
        <p:nvSpPr>
          <p:cNvPr id="601" name="r601"/>
          <p:cNvSpPr>
            <a:spLocks noGrp="1"/>
          </p:cNvSpPr>
          <p:nvPr/>
        </p:nvSpPr>
        <p:spPr>
          <a:xfrm>
            <a:off x="5520000" y="2910000"/>
            <a:ext cx="620000" cy="680000"/>
          </a:xfrm>
          <a:prstGeom prst="rect">
            <a:avLst/>
          </a:prstGeom>
          <a:solidFill>
            <a:srgbClr val="FFFF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701" name="t701"/>
          <p:cNvSpPr txBox="1"/>
          <p:nvPr/>
        </p:nvSpPr>
        <p:spPr>
          <a:xfrm>
            <a:off x="5520000" y="3030000"/>
            <a:ext cx="62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Tahoma" panose="020B0604030504040204"/>
              </a:rPr>
              <a:t>Dark Mode</a:t>
            </a:r>
          </a:p>
        </p:txBody>
      </p:sp>
      <p:sp>
        <p:nvSpPr>
          <p:cNvPr id="501" name="r501"/>
          <p:cNvSpPr>
            <a:spLocks noGrp="1"/>
          </p:cNvSpPr>
          <p:nvPr/>
        </p:nvSpPr>
        <p:spPr>
          <a:xfrm>
            <a:off x="6230000" y="1510000"/>
            <a:ext cx="700000" cy="3700000"/>
          </a:xfrm>
          <a:prstGeom prst="rect">
            <a:avLst/>
          </a:prstGeom>
          <a:solidFill>
            <a:srgbClr val="EEF3FB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11" name="r511"/>
          <p:cNvSpPr>
            <a:spLocks noGrp="1"/>
          </p:cNvSpPr>
          <p:nvPr/>
        </p:nvSpPr>
        <p:spPr>
          <a:xfrm>
            <a:off x="6230000" y="1510000"/>
            <a:ext cx="700000" cy="8000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21" name="t521"/>
          <p:cNvSpPr txBox="1"/>
          <p:nvPr/>
        </p:nvSpPr>
        <p:spPr>
          <a:xfrm>
            <a:off x="6230000" y="1600000"/>
            <a:ext cx="700000" cy="30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b="1" dirty="0">
                <a:solidFill>
                  <a:srgbClr val="C55A11"/>
                </a:solidFill>
                <a:latin typeface="Tahoma" panose="020B0604030504040204"/>
              </a:rPr>
              <a:t>In Progress</a:t>
            </a:r>
          </a:p>
        </p:txBody>
      </p:sp>
      <p:sp>
        <p:nvSpPr>
          <p:cNvPr id="603" name="r603"/>
          <p:cNvSpPr>
            <a:spLocks noGrp="1"/>
          </p:cNvSpPr>
          <p:nvPr/>
        </p:nvSpPr>
        <p:spPr>
          <a:xfrm>
            <a:off x="6270000" y="2010000"/>
            <a:ext cx="620000" cy="680000"/>
          </a:xfrm>
          <a:prstGeom prst="rect">
            <a:avLst/>
          </a:prstGeom>
          <a:solidFill>
            <a:srgbClr val="FFFF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703" name="t703"/>
          <p:cNvSpPr txBox="1"/>
          <p:nvPr/>
        </p:nvSpPr>
        <p:spPr>
          <a:xfrm>
            <a:off x="6270000" y="2130000"/>
            <a:ext cx="62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Tahoma" panose="020B0604030504040204"/>
              </a:rPr>
              <a:t>API fix</a:t>
            </a:r>
          </a:p>
        </p:txBody>
      </p:sp>
      <p:sp>
        <p:nvSpPr>
          <p:cNvPr id="604" name="r604"/>
          <p:cNvSpPr>
            <a:spLocks noGrp="1"/>
          </p:cNvSpPr>
          <p:nvPr/>
        </p:nvSpPr>
        <p:spPr>
          <a:xfrm>
            <a:off x="6270000" y="2910000"/>
            <a:ext cx="620000" cy="680000"/>
          </a:xfrm>
          <a:prstGeom prst="rect">
            <a:avLst/>
          </a:prstGeom>
          <a:solidFill>
            <a:srgbClr val="FFFF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704" name="t704"/>
          <p:cNvSpPr txBox="1"/>
          <p:nvPr/>
        </p:nvSpPr>
        <p:spPr>
          <a:xfrm>
            <a:off x="6270000" y="3030000"/>
            <a:ext cx="62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Tahoma" panose="020B0604030504040204"/>
              </a:rPr>
              <a:t>Tests</a:t>
            </a:r>
          </a:p>
        </p:txBody>
      </p:sp>
      <p:sp>
        <p:nvSpPr>
          <p:cNvPr id="502" name="r502"/>
          <p:cNvSpPr>
            <a:spLocks noGrp="1"/>
          </p:cNvSpPr>
          <p:nvPr/>
        </p:nvSpPr>
        <p:spPr>
          <a:xfrm>
            <a:off x="6980000" y="1510000"/>
            <a:ext cx="700000" cy="3700000"/>
          </a:xfrm>
          <a:prstGeom prst="rect">
            <a:avLst/>
          </a:prstGeom>
          <a:solidFill>
            <a:srgbClr val="EEF3FB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12" name="r512"/>
          <p:cNvSpPr>
            <a:spLocks noGrp="1"/>
          </p:cNvSpPr>
          <p:nvPr/>
        </p:nvSpPr>
        <p:spPr>
          <a:xfrm>
            <a:off x="6980000" y="1510000"/>
            <a:ext cx="700000" cy="80000"/>
          </a:xfrm>
          <a:prstGeom prst="rect">
            <a:avLst/>
          </a:prstGeom>
          <a:solidFill>
            <a:srgbClr val="1F7A4E"/>
          </a:solidFill>
          <a:ln>
            <a:solidFill>
              <a:srgbClr val="1F7A4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522" name="t522"/>
          <p:cNvSpPr txBox="1"/>
          <p:nvPr/>
        </p:nvSpPr>
        <p:spPr>
          <a:xfrm>
            <a:off x="6980000" y="1600000"/>
            <a:ext cx="700000" cy="30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b="1" dirty="0">
                <a:solidFill>
                  <a:srgbClr val="1F7A4E"/>
                </a:solidFill>
                <a:latin typeface="Tahoma" panose="020B0604030504040204"/>
              </a:rPr>
              <a:t>Done</a:t>
            </a:r>
          </a:p>
        </p:txBody>
      </p:sp>
      <p:sp>
        <p:nvSpPr>
          <p:cNvPr id="606" name="r606"/>
          <p:cNvSpPr>
            <a:spLocks noGrp="1"/>
          </p:cNvSpPr>
          <p:nvPr/>
        </p:nvSpPr>
        <p:spPr>
          <a:xfrm>
            <a:off x="7020000" y="2010000"/>
            <a:ext cx="620000" cy="680000"/>
          </a:xfrm>
          <a:prstGeom prst="rect">
            <a:avLst/>
          </a:prstGeom>
          <a:solidFill>
            <a:srgbClr val="FFFF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706" name="t706"/>
          <p:cNvSpPr txBox="1"/>
          <p:nvPr/>
        </p:nvSpPr>
        <p:spPr>
          <a:xfrm>
            <a:off x="7020000" y="2130000"/>
            <a:ext cx="62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Tahoma" panose="020B0604030504040204"/>
              </a:rPr>
              <a:t>CI Setup</a:t>
            </a:r>
          </a:p>
        </p:txBody>
      </p:sp>
      <p:sp>
        <p:nvSpPr>
          <p:cNvPr id="607" name="r607"/>
          <p:cNvSpPr>
            <a:spLocks noGrp="1"/>
          </p:cNvSpPr>
          <p:nvPr/>
        </p:nvSpPr>
        <p:spPr>
          <a:xfrm>
            <a:off x="7020000" y="2910000"/>
            <a:ext cx="620000" cy="680000"/>
          </a:xfrm>
          <a:prstGeom prst="rect">
            <a:avLst/>
          </a:prstGeom>
          <a:solidFill>
            <a:srgbClr val="FFFFFF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707" name="t707"/>
          <p:cNvSpPr txBox="1"/>
          <p:nvPr/>
        </p:nvSpPr>
        <p:spPr>
          <a:xfrm>
            <a:off x="7020000" y="3030000"/>
            <a:ext cx="62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  <a:latin typeface="Tahoma" panose="020B0604030504040204"/>
              </a:rPr>
              <a:t>Docs</a:t>
            </a:r>
          </a:p>
        </p:txBody>
      </p:sp>
      <p:sp>
        <p:nvSpPr>
          <p:cNvPr id="800" name="r800"/>
          <p:cNvSpPr>
            <a:spLocks noGrp="1"/>
          </p:cNvSpPr>
          <p:nvPr/>
        </p:nvSpPr>
        <p:spPr>
          <a:xfrm>
            <a:off x="1540000" y="5380000"/>
            <a:ext cx="6100000" cy="570000"/>
          </a:xfrm>
          <a:prstGeom prst="rect">
            <a:avLst/>
          </a:prstGeom>
          <a:solidFill>
            <a:srgbClr val="EEF3FB"/>
          </a:solidFill>
          <a:ln>
            <a:solidFill>
              <a:srgbClr val="BDD7EE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801" name="t801"/>
          <p:cNvSpPr txBox="1"/>
          <p:nvPr/>
        </p:nvSpPr>
        <p:spPr>
          <a:xfrm>
            <a:off x="1640000" y="5440000"/>
            <a:ext cx="5900000" cy="44000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1F3864"/>
                </a:solidFill>
                <a:latin typeface="Tahoma" panose="020B0604030504040204"/>
              </a:rPr>
              <a:t>GitHub Issues = Whole team on one page. No task gets missed!</a:t>
            </a: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545240" y="60989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GitHub Actions — Your Robot Worker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417320" y="2120900"/>
            <a:ext cx="6592570" cy="2700020"/>
            <a:chOff x="1992" y="3460"/>
            <a:chExt cx="10382" cy="4252"/>
          </a:xfrm>
        </p:grpSpPr>
        <p:grpSp>
          <p:nvGrpSpPr>
            <p:cNvPr id="6" name="Group 5"/>
            <p:cNvGrpSpPr/>
            <p:nvPr/>
          </p:nvGrpSpPr>
          <p:grpSpPr>
            <a:xfrm>
              <a:off x="1992" y="3460"/>
              <a:ext cx="2268" cy="4252"/>
              <a:chOff x="2472" y="3460"/>
              <a:chExt cx="2268" cy="4252"/>
            </a:xfrm>
          </p:grpSpPr>
          <p:sp>
            <p:nvSpPr>
              <p:cNvPr id="100" name="r100"/>
              <p:cNvSpPr>
                <a:spLocks noGrp="1"/>
              </p:cNvSpPr>
              <p:nvPr/>
            </p:nvSpPr>
            <p:spPr>
              <a:xfrm>
                <a:off x="2472" y="3460"/>
                <a:ext cx="2268" cy="4252"/>
              </a:xfrm>
              <a:prstGeom prst="rect">
                <a:avLst/>
              </a:prstGeom>
              <a:solidFill>
                <a:srgbClr val="F2F7FF"/>
              </a:solidFill>
              <a:ln>
                <a:solidFill>
                  <a:srgbClr val="2E75B6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10" name="r110"/>
              <p:cNvSpPr>
                <a:spLocks noGrp="1"/>
              </p:cNvSpPr>
              <p:nvPr/>
            </p:nvSpPr>
            <p:spPr>
              <a:xfrm>
                <a:off x="2472" y="3460"/>
                <a:ext cx="2268" cy="118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20" name="r120"/>
              <p:cNvSpPr>
                <a:spLocks noGrp="1"/>
              </p:cNvSpPr>
              <p:nvPr/>
            </p:nvSpPr>
            <p:spPr>
              <a:xfrm>
                <a:off x="3252" y="3696"/>
                <a:ext cx="709" cy="709"/>
              </a:xfrm>
              <a:prstGeom prst="round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30" name="t130"/>
              <p:cNvSpPr txBox="1"/>
              <p:nvPr/>
            </p:nvSpPr>
            <p:spPr>
              <a:xfrm>
                <a:off x="3252" y="3735"/>
                <a:ext cx="709" cy="63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900" b="1" dirty="0">
                    <a:solidFill>
                      <a:srgbClr val="FFFFFF"/>
                    </a:solidFill>
                    <a:latin typeface="Tahoma" panose="020B0604030504040204"/>
                  </a:rPr>
                  <a:t>1</a:t>
                </a:r>
              </a:p>
            </p:txBody>
          </p:sp>
          <p:sp>
            <p:nvSpPr>
              <p:cNvPr id="200" name="t200"/>
              <p:cNvSpPr txBox="1"/>
              <p:nvPr/>
            </p:nvSpPr>
            <p:spPr>
              <a:xfrm>
                <a:off x="2535" y="4609"/>
                <a:ext cx="2142" cy="598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600" b="1" dirty="0">
                    <a:solidFill>
                      <a:srgbClr val="2E75B6"/>
                    </a:solidFill>
                    <a:latin typeface="Tahoma" panose="020B0604030504040204"/>
                  </a:rPr>
                  <a:t>Code Push</a:t>
                </a:r>
              </a:p>
            </p:txBody>
          </p:sp>
          <p:sp>
            <p:nvSpPr>
              <p:cNvPr id="300" name="t300"/>
              <p:cNvSpPr txBox="1"/>
              <p:nvPr/>
            </p:nvSpPr>
            <p:spPr>
              <a:xfrm>
                <a:off x="2567" y="5349"/>
                <a:ext cx="2079" cy="63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909090"/>
                    </a:solidFill>
                    <a:latin typeface="Tahoma" panose="020B0604030504040204"/>
                  </a:rPr>
                  <a:t>git push</a:t>
                </a:r>
              </a:p>
            </p:txBody>
          </p:sp>
        </p:grpSp>
        <p:sp>
          <p:nvSpPr>
            <p:cNvPr id="400" name="t400"/>
            <p:cNvSpPr txBox="1"/>
            <p:nvPr/>
          </p:nvSpPr>
          <p:spPr>
            <a:xfrm>
              <a:off x="4307" y="5072"/>
              <a:ext cx="157" cy="551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dirty="0">
                  <a:solidFill>
                    <a:srgbClr val="C55A11"/>
                  </a:solidFill>
                  <a:latin typeface="Tahoma" panose="020B0604030504040204"/>
                </a:rPr>
                <a:t>⚡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4697" y="3460"/>
              <a:ext cx="2268" cy="4252"/>
              <a:chOff x="4937" y="3460"/>
              <a:chExt cx="2268" cy="4252"/>
            </a:xfrm>
          </p:grpSpPr>
          <p:sp>
            <p:nvSpPr>
              <p:cNvPr id="101" name="r101"/>
              <p:cNvSpPr>
                <a:spLocks noGrp="1"/>
              </p:cNvSpPr>
              <p:nvPr/>
            </p:nvSpPr>
            <p:spPr>
              <a:xfrm>
                <a:off x="4937" y="3460"/>
                <a:ext cx="2268" cy="4252"/>
              </a:xfrm>
              <a:prstGeom prst="rect">
                <a:avLst/>
              </a:prstGeom>
              <a:solidFill>
                <a:srgbClr val="F2F7FF"/>
              </a:solidFill>
              <a:ln>
                <a:solidFill>
                  <a:srgbClr val="C55A11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11" name="r111"/>
              <p:cNvSpPr>
                <a:spLocks noGrp="1"/>
              </p:cNvSpPr>
              <p:nvPr/>
            </p:nvSpPr>
            <p:spPr>
              <a:xfrm>
                <a:off x="4937" y="3460"/>
                <a:ext cx="2268" cy="118"/>
              </a:xfrm>
              <a:prstGeom prst="rect">
                <a:avLst/>
              </a:prstGeom>
              <a:solidFill>
                <a:srgbClr val="C55A11"/>
              </a:solidFill>
              <a:ln>
                <a:solidFill>
                  <a:srgbClr val="C55A11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21" name="r121"/>
              <p:cNvSpPr>
                <a:spLocks noGrp="1"/>
              </p:cNvSpPr>
              <p:nvPr/>
            </p:nvSpPr>
            <p:spPr>
              <a:xfrm>
                <a:off x="5717" y="3696"/>
                <a:ext cx="709" cy="709"/>
              </a:xfrm>
              <a:prstGeom prst="roundRect">
                <a:avLst/>
              </a:prstGeom>
              <a:solidFill>
                <a:srgbClr val="C55A11"/>
              </a:solidFill>
              <a:ln>
                <a:solidFill>
                  <a:srgbClr val="C55A11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31" name="t131"/>
              <p:cNvSpPr txBox="1"/>
              <p:nvPr/>
            </p:nvSpPr>
            <p:spPr>
              <a:xfrm>
                <a:off x="5717" y="3735"/>
                <a:ext cx="709" cy="63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900" b="1" dirty="0">
                    <a:solidFill>
                      <a:srgbClr val="FFFFFF"/>
                    </a:solidFill>
                    <a:latin typeface="Tahoma" panose="020B0604030504040204"/>
                  </a:rPr>
                  <a:t>2</a:t>
                </a:r>
              </a:p>
            </p:txBody>
          </p:sp>
          <p:sp>
            <p:nvSpPr>
              <p:cNvPr id="201" name="t201"/>
              <p:cNvSpPr txBox="1"/>
              <p:nvPr/>
            </p:nvSpPr>
            <p:spPr>
              <a:xfrm>
                <a:off x="5000" y="4609"/>
                <a:ext cx="2142" cy="598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600" b="1" dirty="0">
                    <a:solidFill>
                      <a:srgbClr val="C55A11"/>
                    </a:solidFill>
                    <a:latin typeface="Tahoma" panose="020B0604030504040204"/>
                  </a:rPr>
                  <a:t>Tests Run</a:t>
                </a:r>
              </a:p>
            </p:txBody>
          </p:sp>
          <p:sp>
            <p:nvSpPr>
              <p:cNvPr id="301" name="t301"/>
              <p:cNvSpPr txBox="1"/>
              <p:nvPr/>
            </p:nvSpPr>
            <p:spPr>
              <a:xfrm>
                <a:off x="5031" y="5349"/>
                <a:ext cx="2079" cy="63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909090"/>
                    </a:solidFill>
                    <a:latin typeface="Tahoma" panose="020B0604030504040204"/>
                  </a:rPr>
                  <a:t>Automatic!</a:t>
                </a:r>
              </a:p>
            </p:txBody>
          </p:sp>
        </p:grpSp>
        <p:sp>
          <p:nvSpPr>
            <p:cNvPr id="401" name="t401"/>
            <p:cNvSpPr txBox="1"/>
            <p:nvPr/>
          </p:nvSpPr>
          <p:spPr>
            <a:xfrm>
              <a:off x="7012" y="5192"/>
              <a:ext cx="157" cy="551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dirty="0">
                  <a:solidFill>
                    <a:srgbClr val="C55A11"/>
                  </a:solidFill>
                  <a:latin typeface="Tahoma" panose="020B0604030504040204"/>
                </a:rPr>
                <a:t>⚡</a:t>
              </a:r>
            </a:p>
          </p:txBody>
        </p:sp>
        <p:sp>
          <p:nvSpPr>
            <p:cNvPr id="102" name="r102"/>
            <p:cNvSpPr>
              <a:spLocks noGrp="1"/>
            </p:cNvSpPr>
            <p:nvPr/>
          </p:nvSpPr>
          <p:spPr>
            <a:xfrm>
              <a:off x="7402" y="3460"/>
              <a:ext cx="2268" cy="4252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2" name="r112"/>
            <p:cNvSpPr>
              <a:spLocks noGrp="1"/>
            </p:cNvSpPr>
            <p:nvPr/>
          </p:nvSpPr>
          <p:spPr>
            <a:xfrm>
              <a:off x="7402" y="3460"/>
              <a:ext cx="2268" cy="118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2" name="r122"/>
            <p:cNvSpPr>
              <a:spLocks noGrp="1"/>
            </p:cNvSpPr>
            <p:nvPr/>
          </p:nvSpPr>
          <p:spPr>
            <a:xfrm>
              <a:off x="8181" y="3696"/>
              <a:ext cx="709" cy="709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32" name="t132"/>
            <p:cNvSpPr txBox="1"/>
            <p:nvPr/>
          </p:nvSpPr>
          <p:spPr>
            <a:xfrm>
              <a:off x="8181" y="3735"/>
              <a:ext cx="709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b="1" dirty="0">
                  <a:solidFill>
                    <a:srgbClr val="FFFFFF"/>
                  </a:solidFill>
                  <a:latin typeface="Tahoma" panose="020B0604030504040204"/>
                </a:rPr>
                <a:t>3</a:t>
              </a:r>
            </a:p>
          </p:txBody>
        </p:sp>
        <p:sp>
          <p:nvSpPr>
            <p:cNvPr id="202" name="t202"/>
            <p:cNvSpPr txBox="1"/>
            <p:nvPr/>
          </p:nvSpPr>
          <p:spPr>
            <a:xfrm>
              <a:off x="7465" y="4609"/>
              <a:ext cx="2142" cy="598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600" b="1" dirty="0">
                  <a:solidFill>
                    <a:srgbClr val="7030A0"/>
                  </a:solidFill>
                  <a:latin typeface="Tahoma" panose="020B0604030504040204"/>
                </a:rPr>
                <a:t>Build</a:t>
              </a:r>
            </a:p>
          </p:txBody>
        </p:sp>
        <p:sp>
          <p:nvSpPr>
            <p:cNvPr id="302" name="t302"/>
            <p:cNvSpPr txBox="1"/>
            <p:nvPr/>
          </p:nvSpPr>
          <p:spPr>
            <a:xfrm>
              <a:off x="7496" y="5349"/>
              <a:ext cx="2079" cy="630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909090"/>
                  </a:solidFill>
                  <a:latin typeface="Tahoma" panose="020B0604030504040204"/>
                </a:rPr>
                <a:t>Deploy ready</a:t>
              </a:r>
            </a:p>
          </p:txBody>
        </p:sp>
        <p:sp>
          <p:nvSpPr>
            <p:cNvPr id="402" name="t402"/>
            <p:cNvSpPr txBox="1"/>
            <p:nvPr/>
          </p:nvSpPr>
          <p:spPr>
            <a:xfrm>
              <a:off x="9717" y="5192"/>
              <a:ext cx="157" cy="551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900" dirty="0">
                  <a:solidFill>
                    <a:srgbClr val="C55A11"/>
                  </a:solidFill>
                  <a:latin typeface="Tahoma" panose="020B0604030504040204"/>
                </a:rPr>
                <a:t>⚡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0106" y="3460"/>
              <a:ext cx="2268" cy="4252"/>
              <a:chOff x="9866" y="3460"/>
              <a:chExt cx="2268" cy="4252"/>
            </a:xfrm>
          </p:grpSpPr>
          <p:sp>
            <p:nvSpPr>
              <p:cNvPr id="103" name="r103"/>
              <p:cNvSpPr>
                <a:spLocks noGrp="1"/>
              </p:cNvSpPr>
              <p:nvPr/>
            </p:nvSpPr>
            <p:spPr>
              <a:xfrm>
                <a:off x="9866" y="3460"/>
                <a:ext cx="2268" cy="4252"/>
              </a:xfrm>
              <a:prstGeom prst="rect">
                <a:avLst/>
              </a:prstGeom>
              <a:solidFill>
                <a:srgbClr val="F2F7FF"/>
              </a:solidFill>
              <a:ln>
                <a:solidFill>
                  <a:srgbClr val="1F7A4E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13" name="r113"/>
              <p:cNvSpPr>
                <a:spLocks noGrp="1"/>
              </p:cNvSpPr>
              <p:nvPr/>
            </p:nvSpPr>
            <p:spPr>
              <a:xfrm>
                <a:off x="9866" y="3460"/>
                <a:ext cx="2268" cy="118"/>
              </a:xfrm>
              <a:prstGeom prst="rect">
                <a:avLst/>
              </a:prstGeom>
              <a:solidFill>
                <a:srgbClr val="1F7A4E"/>
              </a:solidFill>
              <a:ln>
                <a:solidFill>
                  <a:srgbClr val="1F7A4E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23" name="r123"/>
              <p:cNvSpPr>
                <a:spLocks noGrp="1"/>
              </p:cNvSpPr>
              <p:nvPr/>
            </p:nvSpPr>
            <p:spPr>
              <a:xfrm>
                <a:off x="10646" y="3696"/>
                <a:ext cx="709" cy="709"/>
              </a:xfrm>
              <a:prstGeom prst="roundRect">
                <a:avLst/>
              </a:prstGeom>
              <a:solidFill>
                <a:srgbClr val="1F7A4E"/>
              </a:solidFill>
              <a:ln>
                <a:solidFill>
                  <a:srgbClr val="1F7A4E"/>
                </a:solidFill>
              </a:ln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133" name="t133"/>
              <p:cNvSpPr txBox="1"/>
              <p:nvPr/>
            </p:nvSpPr>
            <p:spPr>
              <a:xfrm>
                <a:off x="10646" y="3735"/>
                <a:ext cx="709" cy="63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900" b="1" dirty="0">
                    <a:solidFill>
                      <a:srgbClr val="FFFFFF"/>
                    </a:solidFill>
                    <a:latin typeface="Tahoma" panose="020B0604030504040204"/>
                  </a:rPr>
                  <a:t>4</a:t>
                </a:r>
              </a:p>
            </p:txBody>
          </p:sp>
          <p:sp>
            <p:nvSpPr>
              <p:cNvPr id="203" name="t203"/>
              <p:cNvSpPr txBox="1"/>
              <p:nvPr/>
            </p:nvSpPr>
            <p:spPr>
              <a:xfrm>
                <a:off x="9929" y="4609"/>
                <a:ext cx="2142" cy="598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600" b="1" dirty="0">
                    <a:solidFill>
                      <a:srgbClr val="1F7A4E"/>
                    </a:solidFill>
                    <a:latin typeface="Tahoma" panose="020B0604030504040204"/>
                  </a:rPr>
                  <a:t>Live!</a:t>
                </a:r>
              </a:p>
            </p:txBody>
          </p:sp>
          <p:sp>
            <p:nvSpPr>
              <p:cNvPr id="303" name="t303"/>
              <p:cNvSpPr txBox="1"/>
              <p:nvPr/>
            </p:nvSpPr>
            <p:spPr>
              <a:xfrm>
                <a:off x="9961" y="5349"/>
                <a:ext cx="2079" cy="630"/>
              </a:xfrm>
              <a:prstGeom prst="rect">
                <a:avLst/>
              </a:prstGeom>
              <a:noFill/>
            </p:spPr>
            <p:txBody>
              <a:bodyPr vert="horz" wrap="square" lIns="60960" tIns="45720" rIns="60960" bIns="4572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909090"/>
                    </a:solidFill>
                    <a:latin typeface="Tahoma" panose="020B0604030504040204"/>
                  </a:rPr>
                  <a:t>On server</a:t>
                </a:r>
              </a:p>
            </p:txBody>
          </p:sp>
        </p:grp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 txBox="1"/>
          <p:nvPr/>
        </p:nvSpPr>
        <p:spPr>
          <a:xfrm>
            <a:off x="1448085" y="501940"/>
            <a:ext cx="6100000" cy="82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en-US" sz="2800" b="1" dirty="0">
                <a:solidFill>
                  <a:srgbClr val="1F3864"/>
                </a:solidFill>
                <a:latin typeface="Tahoma" panose="020B0604030504040204"/>
              </a:rPr>
              <a:t>GitHub Features — Complete Overview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100" name="r100"/>
          <p:cNvSpPr>
            <a:spLocks noGrp="1"/>
          </p:cNvSpPr>
          <p:nvPr/>
        </p:nvSpPr>
        <p:spPr>
          <a:xfrm>
            <a:off x="1560195" y="2120900"/>
            <a:ext cx="1440180" cy="1520190"/>
          </a:xfrm>
          <a:prstGeom prst="rect">
            <a:avLst/>
          </a:prstGeom>
          <a:solidFill>
            <a:srgbClr val="F2F7FF"/>
          </a:solidFill>
          <a:ln>
            <a:solidFill>
              <a:srgbClr val="2E75B6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0" name="r110"/>
          <p:cNvSpPr>
            <a:spLocks noGrp="1"/>
          </p:cNvSpPr>
          <p:nvPr/>
        </p:nvSpPr>
        <p:spPr>
          <a:xfrm>
            <a:off x="1560195" y="2120900"/>
            <a:ext cx="1440180" cy="6985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02" name="r102"/>
          <p:cNvSpPr>
            <a:spLocks noGrp="1"/>
          </p:cNvSpPr>
          <p:nvPr/>
        </p:nvSpPr>
        <p:spPr>
          <a:xfrm>
            <a:off x="4679950" y="2120900"/>
            <a:ext cx="1440180" cy="1520190"/>
          </a:xfrm>
          <a:prstGeom prst="rect">
            <a:avLst/>
          </a:prstGeom>
          <a:solidFill>
            <a:srgbClr val="F2F7FF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2" name="r112"/>
          <p:cNvSpPr>
            <a:spLocks noGrp="1"/>
          </p:cNvSpPr>
          <p:nvPr/>
        </p:nvSpPr>
        <p:spPr>
          <a:xfrm>
            <a:off x="4679950" y="2120900"/>
            <a:ext cx="1440180" cy="69850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03" name="r103"/>
          <p:cNvSpPr>
            <a:spLocks noGrp="1"/>
          </p:cNvSpPr>
          <p:nvPr/>
        </p:nvSpPr>
        <p:spPr>
          <a:xfrm>
            <a:off x="6240145" y="2120900"/>
            <a:ext cx="1440180" cy="1520190"/>
          </a:xfrm>
          <a:prstGeom prst="rect">
            <a:avLst/>
          </a:prstGeom>
          <a:solidFill>
            <a:srgbClr val="F2F7FF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113" name="r113"/>
          <p:cNvSpPr>
            <a:spLocks noGrp="1"/>
          </p:cNvSpPr>
          <p:nvPr/>
        </p:nvSpPr>
        <p:spPr>
          <a:xfrm>
            <a:off x="6240145" y="2120900"/>
            <a:ext cx="1440180" cy="6985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00" name="t200"/>
          <p:cNvSpPr txBox="1"/>
          <p:nvPr/>
        </p:nvSpPr>
        <p:spPr>
          <a:xfrm>
            <a:off x="1600200" y="2270760"/>
            <a:ext cx="1360170" cy="48006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2E75B6"/>
                </a:solidFill>
                <a:latin typeface="Tahoma" panose="020B0604030504040204"/>
              </a:rPr>
              <a:t>📁 Repository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1600200" y="2820670"/>
            <a:ext cx="1360170" cy="69977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300" dirty="0">
                <a:solidFill>
                  <a:srgbClr val="606060"/>
                </a:solidFill>
                <a:latin typeface="Tahoma" panose="020B0604030504040204"/>
              </a:rPr>
              <a:t>Store &amp; manage all
project files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119755" y="2120900"/>
            <a:ext cx="1440180" cy="1520190"/>
            <a:chOff x="4913" y="3340"/>
            <a:chExt cx="2268" cy="2394"/>
          </a:xfrm>
        </p:grpSpPr>
        <p:sp>
          <p:nvSpPr>
            <p:cNvPr id="101" name="r101"/>
            <p:cNvSpPr>
              <a:spLocks noGrp="1"/>
            </p:cNvSpPr>
            <p:nvPr/>
          </p:nvSpPr>
          <p:spPr>
            <a:xfrm>
              <a:off x="4913" y="3340"/>
              <a:ext cx="2268" cy="2394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1" name="r111"/>
            <p:cNvSpPr>
              <a:spLocks noGrp="1"/>
            </p:cNvSpPr>
            <p:nvPr/>
          </p:nvSpPr>
          <p:spPr>
            <a:xfrm>
              <a:off x="4913" y="3340"/>
              <a:ext cx="2268" cy="110"/>
            </a:xfrm>
            <a:prstGeom prst="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1" name="t201"/>
            <p:cNvSpPr txBox="1"/>
            <p:nvPr/>
          </p:nvSpPr>
          <p:spPr>
            <a:xfrm>
              <a:off x="4976" y="3576"/>
              <a:ext cx="2142" cy="756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7A4E"/>
                  </a:solidFill>
                  <a:latin typeface="Tahoma" panose="020B0604030504040204"/>
                </a:rPr>
                <a:t>🌿 Branches</a:t>
              </a:r>
            </a:p>
          </p:txBody>
        </p:sp>
        <p:sp>
          <p:nvSpPr>
            <p:cNvPr id="301" name="t301"/>
            <p:cNvSpPr txBox="1"/>
            <p:nvPr/>
          </p:nvSpPr>
          <p:spPr>
            <a:xfrm>
              <a:off x="4976" y="4322"/>
              <a:ext cx="2142" cy="110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dirty="0">
                  <a:solidFill>
                    <a:srgbClr val="606060"/>
                  </a:solidFill>
                  <a:latin typeface="Tahoma" panose="020B0604030504040204"/>
                </a:rPr>
                <a:t>Work on features
without breaking main</a:t>
              </a:r>
            </a:p>
          </p:txBody>
        </p:sp>
      </p:grpSp>
      <p:sp>
        <p:nvSpPr>
          <p:cNvPr id="202" name="t202"/>
          <p:cNvSpPr txBox="1"/>
          <p:nvPr/>
        </p:nvSpPr>
        <p:spPr>
          <a:xfrm>
            <a:off x="4719955" y="2270760"/>
            <a:ext cx="1360170" cy="48006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C55A11"/>
                </a:solidFill>
                <a:latin typeface="Tahoma" panose="020B0604030504040204"/>
              </a:rPr>
              <a:t>💬 Commits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4719955" y="2820670"/>
            <a:ext cx="1360170" cy="69977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300" dirty="0">
                <a:solidFill>
                  <a:srgbClr val="606060"/>
                </a:solidFill>
                <a:latin typeface="Tahoma" panose="020B0604030504040204"/>
              </a:rPr>
              <a:t>Save snapshots
with messages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6280150" y="2270760"/>
            <a:ext cx="1360170" cy="48006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500" b="1" dirty="0">
                <a:solidFill>
                  <a:srgbClr val="7030A0"/>
                </a:solidFill>
                <a:latin typeface="Tahoma" panose="020B0604030504040204"/>
              </a:rPr>
              <a:t>🔀 Pull Requests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6280150" y="2820670"/>
            <a:ext cx="1360170" cy="699770"/>
          </a:xfrm>
          <a:prstGeom prst="rect">
            <a:avLst/>
          </a:prstGeom>
          <a:noFill/>
        </p:spPr>
        <p:txBody>
          <a:bodyPr vert="horz" wrap="square" lIns="60960" tIns="45720" rIns="60960" bIns="45720" rtlCol="0">
            <a:spAutoFit/>
          </a:bodyPr>
          <a:lstStyle/>
          <a:p>
            <a:pPr algn="l"/>
            <a:r>
              <a:rPr lang="en-US" sz="1300" dirty="0">
                <a:solidFill>
                  <a:srgbClr val="606060"/>
                </a:solidFill>
                <a:latin typeface="Tahoma" panose="020B0604030504040204"/>
              </a:rPr>
              <a:t>Review &amp; merge
code changes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60195" y="3846830"/>
            <a:ext cx="6120130" cy="1520190"/>
            <a:chOff x="2457" y="4378"/>
            <a:chExt cx="9638" cy="2394"/>
          </a:xfrm>
        </p:grpSpPr>
        <p:sp>
          <p:nvSpPr>
            <p:cNvPr id="104" name="r104"/>
            <p:cNvSpPr>
              <a:spLocks noGrp="1"/>
            </p:cNvSpPr>
            <p:nvPr/>
          </p:nvSpPr>
          <p:spPr>
            <a:xfrm>
              <a:off x="2457" y="4378"/>
              <a:ext cx="2268" cy="2394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4" name="r114"/>
            <p:cNvSpPr>
              <a:spLocks noGrp="1"/>
            </p:cNvSpPr>
            <p:nvPr/>
          </p:nvSpPr>
          <p:spPr>
            <a:xfrm>
              <a:off x="2457" y="4378"/>
              <a:ext cx="2268" cy="110"/>
            </a:xfrm>
            <a:prstGeom prst="rect">
              <a:avLst/>
            </a:prstGeom>
            <a:solidFill>
              <a:srgbClr val="C55A11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4" name="t204"/>
            <p:cNvSpPr txBox="1"/>
            <p:nvPr/>
          </p:nvSpPr>
          <p:spPr>
            <a:xfrm>
              <a:off x="2520" y="4614"/>
              <a:ext cx="2142" cy="756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55A11"/>
                  </a:solidFill>
                  <a:latin typeface="Tahoma" panose="020B0604030504040204"/>
                </a:rPr>
                <a:t>🐛 Issues</a:t>
              </a:r>
            </a:p>
          </p:txBody>
        </p:sp>
        <p:sp>
          <p:nvSpPr>
            <p:cNvPr id="304" name="t304"/>
            <p:cNvSpPr txBox="1"/>
            <p:nvPr/>
          </p:nvSpPr>
          <p:spPr>
            <a:xfrm>
              <a:off x="2520" y="5480"/>
              <a:ext cx="2142" cy="110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dirty="0">
                  <a:solidFill>
                    <a:srgbClr val="606060"/>
                  </a:solidFill>
                  <a:latin typeface="Tahoma" panose="020B0604030504040204"/>
                </a:rPr>
                <a:t>Track bugs, tasks &amp;
feature requests</a:t>
              </a:r>
            </a:p>
          </p:txBody>
        </p:sp>
        <p:sp>
          <p:nvSpPr>
            <p:cNvPr id="105" name="r105"/>
            <p:cNvSpPr>
              <a:spLocks noGrp="1"/>
            </p:cNvSpPr>
            <p:nvPr/>
          </p:nvSpPr>
          <p:spPr>
            <a:xfrm>
              <a:off x="4913" y="4378"/>
              <a:ext cx="2268" cy="2394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5" name="r115"/>
            <p:cNvSpPr>
              <a:spLocks noGrp="1"/>
            </p:cNvSpPr>
            <p:nvPr/>
          </p:nvSpPr>
          <p:spPr>
            <a:xfrm>
              <a:off x="4913" y="4378"/>
              <a:ext cx="2268" cy="110"/>
            </a:xfrm>
            <a:prstGeom prst="rect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5" name="t205"/>
            <p:cNvSpPr txBox="1"/>
            <p:nvPr/>
          </p:nvSpPr>
          <p:spPr>
            <a:xfrm>
              <a:off x="4976" y="4614"/>
              <a:ext cx="2142" cy="756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E75B6"/>
                  </a:solidFill>
                  <a:latin typeface="Tahoma" panose="020B0604030504040204"/>
                </a:rPr>
                <a:t>⚡ Actions</a:t>
              </a:r>
            </a:p>
          </p:txBody>
        </p:sp>
        <p:sp>
          <p:nvSpPr>
            <p:cNvPr id="305" name="t305"/>
            <p:cNvSpPr txBox="1"/>
            <p:nvPr/>
          </p:nvSpPr>
          <p:spPr>
            <a:xfrm>
              <a:off x="4976" y="5480"/>
              <a:ext cx="2142" cy="110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dirty="0">
                  <a:solidFill>
                    <a:srgbClr val="606060"/>
                  </a:solidFill>
                  <a:latin typeface="Tahoma" panose="020B0604030504040204"/>
                </a:rPr>
                <a:t>Automate tests,
builds &amp; deploy</a:t>
              </a:r>
            </a:p>
          </p:txBody>
        </p:sp>
        <p:sp>
          <p:nvSpPr>
            <p:cNvPr id="106" name="r106"/>
            <p:cNvSpPr>
              <a:spLocks noGrp="1"/>
            </p:cNvSpPr>
            <p:nvPr/>
          </p:nvSpPr>
          <p:spPr>
            <a:xfrm>
              <a:off x="7370" y="4378"/>
              <a:ext cx="2268" cy="2394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6" name="r116"/>
            <p:cNvSpPr>
              <a:spLocks noGrp="1"/>
            </p:cNvSpPr>
            <p:nvPr/>
          </p:nvSpPr>
          <p:spPr>
            <a:xfrm>
              <a:off x="7370" y="4378"/>
              <a:ext cx="2268" cy="110"/>
            </a:xfrm>
            <a:prstGeom prst="rect">
              <a:avLst/>
            </a:prstGeom>
            <a:solidFill>
              <a:srgbClr val="1F7A4E"/>
            </a:solidFill>
            <a:ln>
              <a:solidFill>
                <a:srgbClr val="1F7A4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6" name="t206"/>
            <p:cNvSpPr txBox="1"/>
            <p:nvPr/>
          </p:nvSpPr>
          <p:spPr>
            <a:xfrm>
              <a:off x="7433" y="4614"/>
              <a:ext cx="2142" cy="756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7A4E"/>
                  </a:solidFill>
                  <a:latin typeface="Tahoma" panose="020B0604030504040204"/>
                </a:rPr>
                <a:t>🌐 Pages</a:t>
              </a:r>
            </a:p>
          </p:txBody>
        </p:sp>
        <p:sp>
          <p:nvSpPr>
            <p:cNvPr id="306" name="t306"/>
            <p:cNvSpPr txBox="1"/>
            <p:nvPr/>
          </p:nvSpPr>
          <p:spPr>
            <a:xfrm>
              <a:off x="7500" y="5312"/>
              <a:ext cx="2142" cy="110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dirty="0">
                  <a:solidFill>
                    <a:srgbClr val="606060"/>
                  </a:solidFill>
                  <a:latin typeface="Tahoma" panose="020B0604030504040204"/>
                </a:rPr>
                <a:t>Host your website
FREE on github.io</a:t>
              </a:r>
            </a:p>
          </p:txBody>
        </p:sp>
        <p:sp>
          <p:nvSpPr>
            <p:cNvPr id="107" name="r107"/>
            <p:cNvSpPr>
              <a:spLocks noGrp="1"/>
            </p:cNvSpPr>
            <p:nvPr/>
          </p:nvSpPr>
          <p:spPr>
            <a:xfrm>
              <a:off x="9827" y="4378"/>
              <a:ext cx="2268" cy="2394"/>
            </a:xfrm>
            <a:prstGeom prst="rect">
              <a:avLst/>
            </a:prstGeom>
            <a:solidFill>
              <a:srgbClr val="F2F7FF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17" name="r117"/>
            <p:cNvSpPr>
              <a:spLocks noGrp="1"/>
            </p:cNvSpPr>
            <p:nvPr/>
          </p:nvSpPr>
          <p:spPr>
            <a:xfrm>
              <a:off x="9827" y="4378"/>
              <a:ext cx="2268" cy="110"/>
            </a:xfrm>
            <a:prstGeom prst="rect">
              <a:avLst/>
            </a:prstGeom>
            <a:solidFill>
              <a:srgbClr val="C55A11"/>
            </a:solidFill>
            <a:ln>
              <a:solidFill>
                <a:srgbClr val="C55A11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07" name="t207"/>
            <p:cNvSpPr txBox="1"/>
            <p:nvPr/>
          </p:nvSpPr>
          <p:spPr>
            <a:xfrm>
              <a:off x="9890" y="4614"/>
              <a:ext cx="2142" cy="756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55A11"/>
                  </a:solidFill>
                  <a:latin typeface="Tahoma" panose="020B0604030504040204"/>
                </a:rPr>
                <a:t>🔒 Security</a:t>
              </a:r>
            </a:p>
          </p:txBody>
        </p:sp>
        <p:sp>
          <p:nvSpPr>
            <p:cNvPr id="307" name="t307"/>
            <p:cNvSpPr txBox="1"/>
            <p:nvPr/>
          </p:nvSpPr>
          <p:spPr>
            <a:xfrm>
              <a:off x="9890" y="5480"/>
              <a:ext cx="2142" cy="1102"/>
            </a:xfrm>
            <a:prstGeom prst="rect">
              <a:avLst/>
            </a:prstGeom>
            <a:noFill/>
          </p:spPr>
          <p:txBody>
            <a:bodyPr vert="horz" wrap="square" lIns="60960" tIns="45720" rIns="60960" bIns="45720" rtlCol="0">
              <a:spAutoFit/>
            </a:bodyPr>
            <a:lstStyle/>
            <a:p>
              <a:pPr algn="l"/>
              <a:r>
                <a:rPr lang="en-US" sz="1300" dirty="0">
                  <a:solidFill>
                    <a:srgbClr val="606060"/>
                  </a:solidFill>
                  <a:latin typeface="Tahoma" panose="020B0604030504040204"/>
                </a:rPr>
                <a:t>Auto-detect &amp; fix
vulnerabilities</a:t>
              </a:r>
            </a:p>
          </p:txBody>
        </p:sp>
      </p:grp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7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622" y="152400"/>
            <a:ext cx="8229600" cy="854075"/>
          </a:xfrm>
          <a:prstGeom prst="rect">
            <a:avLst/>
          </a:prstGeom>
        </p:spPr>
        <p:txBody>
          <a:bodyPr vert="horz" wrap="square" lIns="0" tIns="177687" rIns="0" bIns="0" rtlCol="0">
            <a:spAutoFit/>
          </a:bodyPr>
          <a:lstStyle/>
          <a:p>
            <a:pPr marL="25400">
              <a:spcBef>
                <a:spcPts val="180"/>
              </a:spcBef>
            </a:pP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What can we do on github?</a:t>
            </a:r>
            <a:endParaRPr lang="en-US" b="1" spc="-20" dirty="0" smtClean="0">
              <a:solidFill>
                <a:schemeClr val="tx2">
                  <a:lumMod val="7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 descr="ChatGPT Image Mar 7, 2026, 10_14_08 AM"/>
          <p:cNvPicPr>
            <a:picLocks noChangeAspect="1"/>
          </p:cNvPicPr>
          <p:nvPr/>
        </p:nvPicPr>
        <p:blipFill>
          <a:blip r:embed="rId2"/>
          <a:srcRect l="4167" t="5862" r="3333" b="9152"/>
          <a:stretch>
            <a:fillRect/>
          </a:stretch>
        </p:blipFill>
        <p:spPr>
          <a:xfrm>
            <a:off x="152400" y="1113790"/>
            <a:ext cx="8738870" cy="566801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Slide Number Placeholder 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 Box 6"/>
          <p:cNvSpPr txBox="1"/>
          <p:nvPr/>
        </p:nvSpPr>
        <p:spPr>
          <a:xfrm>
            <a:off x="1066800" y="1346200"/>
            <a:ext cx="7178675" cy="2786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pic>
        <p:nvPicPr>
          <p:cNvPr id="8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9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33848" y="1450109"/>
            <a:ext cx="903584" cy="5407891"/>
          </a:xfrm>
          <a:prstGeom prst="rect">
            <a:avLst/>
          </a:prstGeom>
        </p:spPr>
      </p:pic>
      <p:sp>
        <p:nvSpPr>
          <p:cNvPr id="10" name="object 2"/>
          <p:cNvSpPr txBox="1"/>
          <p:nvPr/>
        </p:nvSpPr>
        <p:spPr>
          <a:xfrm>
            <a:off x="918732" y="152400"/>
            <a:ext cx="7068185" cy="638810"/>
          </a:xfrm>
          <a:prstGeom prst="rect">
            <a:avLst/>
          </a:prstGeom>
        </p:spPr>
        <p:txBody>
          <a:bodyPr vert="horz" wrap="square" lIns="0" tIns="85609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68300" indent="-342900">
              <a:spcBef>
                <a:spcPts val="705"/>
              </a:spcBef>
            </a:pPr>
            <a:r>
              <a:rPr lang="en-US" sz="3600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Team Collaboration:</a:t>
            </a:r>
          </a:p>
        </p:txBody>
      </p:sp>
      <p:sp>
        <p:nvSpPr>
          <p:cNvPr id="12" name="Slide Number Placeholder 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13</a:t>
            </a:fld>
            <a:endParaRPr lang="en-US" dirty="0"/>
          </a:p>
        </p:txBody>
      </p:sp>
      <p:pic>
        <p:nvPicPr>
          <p:cNvPr id="19" name="Picture 18"/>
          <p:cNvPicPr/>
          <p:nvPr/>
        </p:nvPicPr>
        <p:blipFill>
          <a:blip r:embed="rId5"/>
          <a:stretch>
            <a:fillRect/>
          </a:stretch>
        </p:blipFill>
        <p:spPr>
          <a:xfrm>
            <a:off x="1371849" y="1346200"/>
            <a:ext cx="4819650" cy="14687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7"/>
          <a:stretch>
            <a:fillRect/>
          </a:stretch>
        </p:blipFill>
        <p:spPr>
          <a:xfrm>
            <a:off x="1003746" y="3124200"/>
            <a:ext cx="6463854" cy="2971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3848" y="1440696"/>
            <a:ext cx="903584" cy="5407891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14</a:t>
            </a:fld>
            <a:endParaRPr lang="en-US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2971800" cy="304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526490"/>
            <a:ext cx="3328061" cy="30851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12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33400"/>
            <a:ext cx="4953000" cy="2482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990600"/>
            <a:ext cx="3546123" cy="1066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33800"/>
            <a:ext cx="5610225" cy="14287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33848" y="1440696"/>
            <a:ext cx="903584" cy="540789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12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6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3848" y="1440696"/>
            <a:ext cx="903584" cy="5407891"/>
          </a:xfrm>
          <a:prstGeom prst="rect">
            <a:avLst/>
          </a:prstGeom>
        </p:spPr>
      </p:pic>
      <p:sp>
        <p:nvSpPr>
          <p:cNvPr id="8" name="Slide Number Placeholder 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16</a:t>
            </a:fld>
            <a:endParaRPr lang="en-US" dirty="0"/>
          </a:p>
        </p:txBody>
      </p:sp>
      <p:pic>
        <p:nvPicPr>
          <p:cNvPr id="13" name="Picture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9" y="381001"/>
            <a:ext cx="1752601" cy="30479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288" y="335369"/>
            <a:ext cx="1969824" cy="31698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" name="Picture 1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80" y="386729"/>
            <a:ext cx="1809320" cy="30422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0"/>
            <a:ext cx="5868987" cy="1514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15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cxnSp>
        <p:nvCxnSpPr>
          <p:cNvPr id="2" name="Straight Connector 1"/>
          <p:cNvCxnSpPr/>
          <p:nvPr/>
        </p:nvCxnSpPr>
        <p:spPr>
          <a:xfrm>
            <a:off x="1752600" y="1828800"/>
            <a:ext cx="5334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Slide Number Placeholder 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17</a:t>
            </a:fld>
            <a:endParaRPr lang="en-US" dirty="0"/>
          </a:p>
        </p:txBody>
      </p:sp>
      <p:pic>
        <p:nvPicPr>
          <p:cNvPr id="9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10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3848" y="1440696"/>
            <a:ext cx="903584" cy="5407891"/>
          </a:xfrm>
          <a:prstGeom prst="rect">
            <a:avLst/>
          </a:prstGeom>
        </p:spPr>
      </p:pic>
      <p:sp>
        <p:nvSpPr>
          <p:cNvPr id="12" name="Slide Number Placeholder 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17</a:t>
            </a:fld>
            <a:endParaRPr lang="en-US" dirty="0"/>
          </a:p>
        </p:txBody>
      </p:sp>
      <p:pic>
        <p:nvPicPr>
          <p:cNvPr id="13" name="Picture 12"/>
          <p:cNvPicPr/>
          <p:nvPr/>
        </p:nvPicPr>
        <p:blipFill>
          <a:blip r:embed="rId4"/>
          <a:stretch>
            <a:fillRect/>
          </a:stretch>
        </p:blipFill>
        <p:spPr>
          <a:xfrm>
            <a:off x="1600200" y="1295400"/>
            <a:ext cx="6400800" cy="381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14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18</a:t>
            </a:fld>
            <a:endParaRPr lang="en-US" dirty="0"/>
          </a:p>
        </p:txBody>
      </p:sp>
      <p:sp>
        <p:nvSpPr>
          <p:cNvPr id="8" name="Slide Number Placeholder 6"/>
          <p:cNvSpPr txBox="1"/>
          <p:nvPr/>
        </p:nvSpPr>
        <p:spPr>
          <a:xfrm>
            <a:off x="65532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18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390900" y="304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</a:t>
            </a:r>
          </a:p>
        </p:txBody>
      </p:sp>
      <p:pic>
        <p:nvPicPr>
          <p:cNvPr id="1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1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33848" y="1440696"/>
            <a:ext cx="903584" cy="540789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03746" cy="53263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2120" y="22098"/>
            <a:ext cx="1397720" cy="6826490"/>
          </a:xfrm>
          <a:prstGeom prst="rect">
            <a:avLst/>
          </a:prstGeom>
        </p:spPr>
      </p:pic>
      <p:sp>
        <p:nvSpPr>
          <p:cNvPr id="11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1219200"/>
            <a:ext cx="5069840" cy="26708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730" y="4086860"/>
            <a:ext cx="6207760" cy="22377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04800"/>
            <a:ext cx="6090920" cy="28581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276600"/>
            <a:ext cx="6214110" cy="32918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838200" y="5334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</a:t>
            </a:r>
          </a:p>
        </p:txBody>
      </p:sp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95400"/>
            <a:ext cx="3758565" cy="45046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1"/>
          <p:cNvSpPr txBox="1"/>
          <p:nvPr/>
        </p:nvSpPr>
        <p:spPr>
          <a:xfrm>
            <a:off x="4647898" y="381000"/>
            <a:ext cx="350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Portfolio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219200"/>
            <a:ext cx="4371975" cy="47377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304800" y="381000"/>
            <a:ext cx="83985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charset="0"/>
                <a:ea typeface="Tahoma" panose="020B0604030504040204" pitchFamily="34" charset="0"/>
                <a:cs typeface="Times New Roman" panose="02020603050405020304" charset="0"/>
              </a:rPr>
              <a:t>GitHub Repository Management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7086600" y="6553987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3505"/>
            <a:ext cx="8886190" cy="48323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tGPT Image Mar 7, 2026, 09_58_56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" y="66040"/>
            <a:ext cx="8961120" cy="67481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443" y="0"/>
            <a:ext cx="9401028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8732" cy="54787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0" y="1440696"/>
            <a:ext cx="1288832" cy="5407891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65125"/>
          </a:xfrm>
        </p:spPr>
        <p:txBody>
          <a:bodyPr/>
          <a:lstStyle/>
          <a:p>
            <a:fld id="{B8B21C08-0308-47B0-8F21-CCC9765602E0}" type="slidenum">
              <a:rPr lang="en-US" smtClean="0"/>
              <a:t>24</a:t>
            </a:fld>
            <a:endParaRPr lang="en-US" dirty="0"/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" cy="5326386"/>
          </a:xfrm>
          <a:prstGeom prst="rect">
            <a:avLst/>
          </a:prstGeom>
        </p:spPr>
      </p:pic>
      <p:sp>
        <p:nvSpPr>
          <p:cNvPr id="8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  <p:sp>
        <p:nvSpPr>
          <p:cNvPr id="5" name="object 2"/>
          <p:cNvSpPr txBox="1">
            <a:spLocks noGrp="1"/>
          </p:cNvSpPr>
          <p:nvPr/>
        </p:nvSpPr>
        <p:spPr>
          <a:xfrm>
            <a:off x="1219200" y="-228600"/>
            <a:ext cx="4298950" cy="2035810"/>
          </a:xfrm>
          <a:prstGeom prst="rect">
            <a:avLst/>
          </a:prstGeom>
        </p:spPr>
        <p:txBody>
          <a:bodyPr vert="horz" wrap="square" lIns="0" tIns="177687" rIns="0" bIns="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5400" indent="0" algn="l">
              <a:spcBef>
                <a:spcPts val="180"/>
              </a:spcBef>
            </a:pPr>
            <a:r>
              <a:rPr lang="en-US" altLang="en-US" sz="3200" b="1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Github alternatives</a:t>
            </a:r>
          </a:p>
        </p:txBody>
      </p:sp>
      <p:sp>
        <p:nvSpPr>
          <p:cNvPr id="6" name="object 2"/>
          <p:cNvSpPr txBox="1">
            <a:spLocks noGrp="1"/>
          </p:cNvSpPr>
          <p:nvPr/>
        </p:nvSpPr>
        <p:spPr>
          <a:xfrm>
            <a:off x="1317625" y="914400"/>
            <a:ext cx="4200525" cy="2073910"/>
          </a:xfrm>
          <a:prstGeom prst="rect">
            <a:avLst/>
          </a:prstGeom>
        </p:spPr>
        <p:txBody>
          <a:bodyPr vert="horz" wrap="square" lIns="0" tIns="177687" rIns="0" bIns="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0" indent="-45720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altLang="en-US" sz="2800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Gitlab</a:t>
            </a:r>
          </a:p>
          <a:p>
            <a:pPr marL="482600" indent="-45720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altLang="en-US" sz="2800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Bitbucket</a:t>
            </a:r>
          </a:p>
          <a:p>
            <a:pPr marL="482600" indent="-45720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altLang="en-US" sz="2800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AWScode commit etc</a:t>
            </a:r>
          </a:p>
        </p:txBody>
      </p:sp>
      <p:sp>
        <p:nvSpPr>
          <p:cNvPr id="10" name="object 2"/>
          <p:cNvSpPr txBox="1">
            <a:spLocks noGrp="1"/>
          </p:cNvSpPr>
          <p:nvPr/>
        </p:nvSpPr>
        <p:spPr>
          <a:xfrm>
            <a:off x="1143000" y="2514600"/>
            <a:ext cx="3632835" cy="1261110"/>
          </a:xfrm>
          <a:prstGeom prst="rect">
            <a:avLst/>
          </a:prstGeom>
        </p:spPr>
        <p:txBody>
          <a:bodyPr vert="horz" wrap="square" lIns="0" tIns="177687" rIns="0" bIns="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5400" indent="0" algn="l">
              <a:spcBef>
                <a:spcPts val="180"/>
              </a:spcBef>
              <a:buFont typeface="Arial" panose="020B0604020202020204" pitchFamily="34" charset="0"/>
            </a:pPr>
            <a:r>
              <a:rPr lang="en-US" altLang="en-US" sz="3200" b="1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Which is Best?</a:t>
            </a:r>
          </a:p>
        </p:txBody>
      </p:sp>
      <p:sp>
        <p:nvSpPr>
          <p:cNvPr id="14" name="object 2"/>
          <p:cNvSpPr txBox="1">
            <a:spLocks noGrp="1"/>
          </p:cNvSpPr>
          <p:nvPr/>
        </p:nvSpPr>
        <p:spPr>
          <a:xfrm>
            <a:off x="1171575" y="3619500"/>
            <a:ext cx="7515225" cy="2073910"/>
          </a:xfrm>
          <a:prstGeom prst="rect">
            <a:avLst/>
          </a:prstGeom>
        </p:spPr>
        <p:txBody>
          <a:bodyPr vert="horz" wrap="square" lIns="0" tIns="177687" rIns="0" bIns="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0" indent="-45720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altLang="en-US" sz="2800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GitHub is the best — largest community, 100M+ developers, and most companies require it.</a:t>
            </a:r>
          </a:p>
          <a:p>
            <a:pPr marL="482600" indent="-45720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altLang="en-US" sz="2800" spc="-20" dirty="0">
                <a:solidFill>
                  <a:schemeClr val="tx2">
                    <a:lumMod val="75000"/>
                  </a:schemeClr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If you want all-in-one DevOps → GitLab is second best!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245" y="-76200"/>
            <a:ext cx="9199245" cy="6934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21C08-0308-47B0-8F21-CCC9765602E0}" type="slidenum">
              <a:rPr lang="en-US" smtClean="0"/>
              <a:t>26</a:t>
            </a:fld>
            <a:endParaRPr lang="en-US" dirty="0"/>
          </a:p>
        </p:txBody>
      </p:sp>
      <p:pic>
        <p:nvPicPr>
          <p:cNvPr id="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" cy="5478786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1440696"/>
            <a:ext cx="1365032" cy="5407891"/>
          </a:xfrm>
          <a:prstGeom prst="rect">
            <a:avLst/>
          </a:prstGeom>
        </p:spPr>
      </p:pic>
      <p:sp>
        <p:nvSpPr>
          <p:cNvPr id="7" name="Slide Number Placeholder 6"/>
          <p:cNvSpPr txBox="1"/>
          <p:nvPr/>
        </p:nvSpPr>
        <p:spPr>
          <a:xfrm>
            <a:off x="65532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21C08-0308-47B0-8F21-CCC9765602E0}" type="slidenum">
              <a:rPr lang="en-US" smtClean="0"/>
              <a:t>26</a:t>
            </a:fld>
            <a:endParaRPr lang="en-US" dirty="0"/>
          </a:p>
        </p:txBody>
      </p:sp>
      <p:sp>
        <p:nvSpPr>
          <p:cNvPr id="8" name="Rectangle 10"/>
          <p:cNvSpPr/>
          <p:nvPr/>
        </p:nvSpPr>
        <p:spPr>
          <a:xfrm>
            <a:off x="2286000" y="2590800"/>
            <a:ext cx="4695190" cy="1195705"/>
          </a:xfrm>
          <a:prstGeom prst="rect">
            <a:avLst/>
          </a:prstGeom>
        </p:spPr>
        <p:txBody>
          <a:bodyPr wrap="square" lIns="181289" tIns="90644" rIns="181289" bIns="90644">
            <a:spAutoFit/>
          </a:bodyPr>
          <a:lstStyle/>
          <a:p>
            <a:r>
              <a:rPr lang="en-US" sz="6600" b="1" dirty="0" smtClean="0">
                <a:solidFill>
                  <a:schemeClr val="tx2">
                    <a:lumMod val="75000"/>
                  </a:schemeClr>
                </a:solidFill>
              </a:rPr>
              <a:t>Thank</a:t>
            </a:r>
            <a:r>
              <a:rPr lang="en-US" sz="6600" b="1" spc="1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6600" b="1" spc="-129" dirty="0" smtClean="0">
                <a:solidFill>
                  <a:schemeClr val="tx2">
                    <a:lumMod val="75000"/>
                  </a:schemeClr>
                </a:solidFill>
              </a:rPr>
              <a:t>you</a:t>
            </a:r>
            <a:r>
              <a:rPr lang="en-US" sz="6600" b="1" spc="20" dirty="0" smtClean="0">
                <a:solidFill>
                  <a:schemeClr val="tx2">
                    <a:lumMod val="75000"/>
                  </a:schemeClr>
                </a:solidFill>
              </a:rPr>
              <a:t>!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6429013" y="6574109"/>
            <a:ext cx="1158744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400" dirty="0">
                <a:solidFill>
                  <a:srgbClr val="0093BE"/>
                </a:solidFill>
                <a:latin typeface="Tahoma" panose="020B0604030504040204"/>
              </a:rPr>
              <a:t>GitHub Basics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On-screen Show (4:3)</PresentationFormat>
  <Paragraphs>194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Tahoma</vt:lpstr>
      <vt:lpstr>Times New Roman</vt:lpstr>
      <vt:lpstr>Office Theme</vt:lpstr>
      <vt:lpstr>Git &amp; Github: Essential Tool for Modern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can we do on github?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Git &amp; GitHub:</dc:title>
  <dc:creator>falcon</dc:creator>
  <cp:lastModifiedBy>DELL</cp:lastModifiedBy>
  <cp:revision>38</cp:revision>
  <dcterms:created xsi:type="dcterms:W3CDTF">2026-03-02T08:20:00Z</dcterms:created>
  <dcterms:modified xsi:type="dcterms:W3CDTF">2026-03-12T04:02:48Z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76CB36F1B3664A978CF8B6DB8F95C9C5_12</vt:lpwstr>
  </property>
  <property fmtid="{D5CDD505-2E9C-101B-9397-08002B2CF9AE}" pid="3" name="KSOProductBuildVer">
    <vt:lpwstr>1033-12.2.0.23196</vt:lpwstr>
  </property>
</Properties>
</file>