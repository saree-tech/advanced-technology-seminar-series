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extLst>
    <p:ext uri="{EFAFB233-063F-42B5-8137-9DF3F51BA10A}"/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>
        <p:scale>
          <a:sx n="51" d="100"/>
          <a:sy n="51" d="100"/>
        </p:scale>
        <p:origin x="-244" y="-1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buNone/>
        <a:defRPr sz="2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rtl="0" eaLnBrk="1" latinLnBrk="0" hangingPunct="1">
        <a:buNone/>
        <a:defRPr sz="24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algn="l" defTabSz="914400" rtl="0" eaLnBrk="1" latinLnBrk="0" hangingPunct="1">
        <a:defRPr sz="24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7" descr="Picture 7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25791" y="270894"/>
            <a:ext cx="7126185" cy="974283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4684" y="466571"/>
            <a:ext cx="10198540" cy="93245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581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 Insights</a:t>
            </a:r>
            <a:endParaRPr sz="2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400"/>
              </a:spcAft>
            </a:pPr>
            <a:endParaRPr sz="11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Understanding</a:t>
            </a:r>
            <a:endParaRPr sz="11500" dirty="0"/>
          </a:p>
          <a:p>
            <a:pPr marL="520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CryptoCurrnecy</a:t>
            </a:r>
            <a:endParaRPr sz="9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2600" dirty="0"/>
          </a:p>
          <a:p>
            <a:pPr marL="24003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Presented By : Hannan Ahmed</a:t>
            </a:r>
            <a:endParaRPr sz="2600" dirty="0"/>
          </a:p>
        </p:txBody>
      </p:sp>
    </p:spTree>
    <p:extLst/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>
          <a:xfrm>
            <a:off x="2151866" y="4053903"/>
            <a:ext cx="15021713" cy="1985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 is Essential</a:t>
            </a:r>
            <a:endParaRPr sz="13000" dirty="0"/>
          </a:p>
        </p:txBody>
      </p:sp>
    </p:spTree>
    <p:extLst/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A2347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>
          <a:xfrm>
            <a:off x="2113028" y="1560466"/>
            <a:ext cx="14490097" cy="5433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124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Understanding Cryptocurrency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0"/>
              </a:spcAft>
            </a:pPr>
            <a:endParaRPr sz="60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Cryptocurrency is</a:t>
            </a:r>
            <a:r>
              <a:rPr sz="60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digital money</a:t>
            </a: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secured</a:t>
            </a:r>
            <a:endParaRPr sz="60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by cryptography, enabling decentralized</a:t>
            </a:r>
            <a:endParaRPr sz="6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transactions without</a:t>
            </a:r>
            <a:r>
              <a:rPr sz="60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central authority</a:t>
            </a: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like</a:t>
            </a:r>
            <a:endParaRPr sz="60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banks.</a:t>
            </a:r>
            <a:endParaRPr sz="6000" dirty="0"/>
          </a:p>
        </p:txBody>
      </p:sp>
    </p:spTree>
    <p:extLst/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7" descr="Picture 7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35627" y="569505"/>
            <a:ext cx="6980873" cy="1008954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95724" y="529665"/>
            <a:ext cx="2619067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CRYPTOCURRENCY INSIGHTS</a:t>
            </a:r>
            <a:endParaRPr sz="1400" dirty="0"/>
          </a:p>
        </p:txBody>
      </p:sp>
      <p:sp>
        <p:nvSpPr>
          <p:cNvPr id="9" name="TextBox 9"/>
          <p:cNvSpPr txBox="1"/>
          <p:nvPr/>
        </p:nvSpPr>
        <p:spPr>
          <a:xfrm>
            <a:off x="4864288" y="529665"/>
            <a:ext cx="2205475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BLOCKCHAIN OVERVIEW</a:t>
            </a:r>
            <a:endParaRPr sz="1400" dirty="0"/>
          </a:p>
        </p:txBody>
      </p:sp>
      <p:sp>
        <p:nvSpPr>
          <p:cNvPr id="10" name="TextBox 10"/>
          <p:cNvSpPr txBox="1"/>
          <p:nvPr/>
        </p:nvSpPr>
        <p:spPr>
          <a:xfrm>
            <a:off x="471766" y="1564187"/>
            <a:ext cx="8595604" cy="60555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889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What is Blockchain?</a:t>
            </a:r>
            <a:endParaRPr sz="60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4500" b="1" i="0" u="none" strike="noStrike" dirty="0">
                <a:solidFill>
                  <a:srgbClr val="7994D4"/>
                </a:solidFill>
                <a:latin typeface="Liberation Sans"/>
                <a:cs typeface="Liberation Sans"/>
              </a:rPr>
              <a:t>Understanding Blockchain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 strike="noStrike" dirty="0">
                <a:solidFill>
                  <a:srgbClr val="7994D4"/>
                </a:solidFill>
                <a:latin typeface="Liberation Sans"/>
                <a:cs typeface="Liberation Sans"/>
              </a:rPr>
              <a:t>Technology</a:t>
            </a:r>
            <a:endParaRPr sz="4500" dirty="0"/>
          </a:p>
          <a:p>
            <a:pPr marL="10160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Blockchain is a</a:t>
            </a:r>
            <a:r>
              <a:rPr sz="29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distributed digital ledger</a:t>
            </a: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that</a:t>
            </a:r>
            <a:endParaRPr sz="2900" dirty="0"/>
          </a:p>
          <a:p>
            <a:pPr marL="152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permanently  records  transactions across a</a:t>
            </a:r>
            <a:endParaRPr sz="2900" dirty="0"/>
          </a:p>
          <a:p>
            <a:pPr marL="1143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network of computers. Its  transparent and</a:t>
            </a:r>
            <a:endParaRPr sz="2900" dirty="0"/>
          </a:p>
          <a:p>
            <a:pPr marL="20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tamper-resistant  nature ensures data integrity,</a:t>
            </a:r>
            <a:endParaRPr sz="2900" dirty="0"/>
          </a:p>
          <a:p>
            <a:pPr marL="127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eliminating the need for a central authority. This</a:t>
            </a:r>
            <a:endParaRPr sz="29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technology  underpins  cryptocurrencies,  enabling</a:t>
            </a:r>
            <a:endParaRPr sz="2900" dirty="0"/>
          </a:p>
          <a:p>
            <a:pPr marL="1143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secure and efficient   peer-to-peer   transactions</a:t>
            </a:r>
            <a:endParaRPr sz="2900" dirty="0"/>
          </a:p>
          <a:p>
            <a:pPr marL="139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without  intermediaries.</a:t>
            </a:r>
            <a:endParaRPr sz="2900" dirty="0"/>
          </a:p>
        </p:txBody>
      </p:sp>
    </p:spTree>
    <p:extLst/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7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7865581" y="578333"/>
            <a:ext cx="9627979" cy="4425067"/>
          </a:xfrm>
          <a:custGeom>
            <a:avLst/>
            <a:gdLst/>
            <a:ahLst/>
            <a:cxnLst/>
            <a:rect l="l" t="t" r="r" b="b"/>
            <a:pathLst>
              <a:path w="9627979" h="4425067">
                <a:moveTo>
                  <a:pt x="0" y="0"/>
                </a:moveTo>
                <a:lnTo>
                  <a:pt x="9627979" y="0"/>
                </a:lnTo>
                <a:lnTo>
                  <a:pt x="9627979" y="4425067"/>
                </a:lnTo>
                <a:lnTo>
                  <a:pt x="0" y="442506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7865581" y="5290432"/>
            <a:ext cx="9627979" cy="4425067"/>
          </a:xfrm>
          <a:custGeom>
            <a:avLst/>
            <a:gdLst/>
            <a:ahLst/>
            <a:cxnLst/>
            <a:rect l="l" t="t" r="r" b="b"/>
            <a:pathLst>
              <a:path w="9627979" h="4425067">
                <a:moveTo>
                  <a:pt x="0" y="0"/>
                </a:moveTo>
                <a:lnTo>
                  <a:pt x="9627979" y="0"/>
                </a:lnTo>
                <a:lnTo>
                  <a:pt x="9627979" y="4425067"/>
                </a:lnTo>
                <a:lnTo>
                  <a:pt x="0" y="442506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70878" y="1028700"/>
            <a:ext cx="4929213" cy="3320733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0878" y="5778677"/>
            <a:ext cx="4929213" cy="332073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24480" y="574226"/>
            <a:ext cx="5243401" cy="25153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History &amp;</a:t>
            </a:r>
            <a:endParaRPr sz="9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Evolution</a:t>
            </a:r>
            <a:endParaRPr sz="9000" dirty="0"/>
          </a:p>
        </p:txBody>
      </p:sp>
      <p:sp>
        <p:nvSpPr>
          <p:cNvPr id="13" name="TextBox 13"/>
          <p:cNvSpPr txBox="1"/>
          <p:nvPr/>
        </p:nvSpPr>
        <p:spPr>
          <a:xfrm>
            <a:off x="8415248" y="1027426"/>
            <a:ext cx="3573123" cy="71932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Bitcoin</a:t>
            </a:r>
            <a:endParaRPr sz="4500" dirty="0"/>
          </a:p>
          <a:p>
            <a:pPr marL="12700" indent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Launched in 2009, Bitcoin</a:t>
            </a:r>
            <a:endParaRPr sz="20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revolutionized  digital</a:t>
            </a:r>
            <a:endParaRPr sz="20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currency and established the</a:t>
            </a:r>
            <a:endParaRPr sz="20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foundation for future</a:t>
            </a:r>
            <a:endParaRPr sz="2000" dirty="0"/>
          </a:p>
          <a:p>
            <a:pPr marL="63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cryptocurrencies.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90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Ethereum</a:t>
            </a:r>
            <a:endParaRPr sz="4500" dirty="0"/>
          </a:p>
          <a:p>
            <a:pPr marL="38100" indent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Introduced  in 2015, Ethereum</a:t>
            </a:r>
            <a:endParaRPr sz="20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expanded the possibilities  of</a:t>
            </a:r>
            <a:endParaRPr sz="20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blockchain with smart</a:t>
            </a:r>
            <a:endParaRPr sz="20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contracts and decentralized</a:t>
            </a:r>
            <a:endParaRPr sz="20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applications.</a:t>
            </a:r>
            <a:endParaRPr sz="2000" dirty="0"/>
          </a:p>
        </p:txBody>
      </p:sp>
    </p:spTree>
    <p:extLst/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7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A2347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12192044" y="2120517"/>
            <a:ext cx="5524456" cy="7358747"/>
          </a:xfrm>
          <a:custGeom>
            <a:avLst/>
            <a:gdLst/>
            <a:ahLst/>
            <a:cxnLst/>
            <a:rect l="l" t="t" r="r" b="b"/>
            <a:pathLst>
              <a:path w="5524456" h="7358747">
                <a:moveTo>
                  <a:pt x="0" y="0"/>
                </a:moveTo>
                <a:lnTo>
                  <a:pt x="5524456" y="0"/>
                </a:lnTo>
                <a:lnTo>
                  <a:pt x="5524456" y="7358747"/>
                </a:lnTo>
                <a:lnTo>
                  <a:pt x="0" y="735874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6384177" y="2120517"/>
            <a:ext cx="5522072" cy="7355573"/>
          </a:xfrm>
          <a:custGeom>
            <a:avLst/>
            <a:gdLst/>
            <a:ahLst/>
            <a:cxnLst/>
            <a:rect l="l" t="t" r="r" b="b"/>
            <a:pathLst>
              <a:path w="5522072" h="7355573">
                <a:moveTo>
                  <a:pt x="0" y="0"/>
                </a:moveTo>
                <a:lnTo>
                  <a:pt x="5522072" y="0"/>
                </a:lnTo>
                <a:lnTo>
                  <a:pt x="5522072" y="7355573"/>
                </a:lnTo>
                <a:lnTo>
                  <a:pt x="0" y="735557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: Shape 11">
            <a:extLst>
              <a:ext uri="{FF2B5EF4-FFF2-40B4-BE49-F238E27FC236}"/>
            </a:extLst>
          </p:cNvPr>
          <p:cNvSpPr/>
          <p:nvPr/>
        </p:nvSpPr>
        <p:spPr>
          <a:xfrm>
            <a:off x="571499" y="2120517"/>
            <a:ext cx="5524500" cy="7358806"/>
          </a:xfrm>
          <a:custGeom>
            <a:avLst/>
            <a:gdLst/>
            <a:ahLst/>
            <a:cxnLst/>
            <a:rect l="l" t="t" r="r" b="b"/>
            <a:pathLst>
              <a:path w="5524500" h="7358806">
                <a:moveTo>
                  <a:pt x="0" y="0"/>
                </a:moveTo>
                <a:lnTo>
                  <a:pt x="5524500" y="0"/>
                </a:lnTo>
                <a:lnTo>
                  <a:pt x="5524500" y="7358806"/>
                </a:lnTo>
                <a:lnTo>
                  <a:pt x="0" y="7358806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0271" y="808956"/>
            <a:ext cx="5544845" cy="3775213"/>
          </a:xfrm>
          <a:prstGeom prst="rect">
            <a:avLst/>
          </a:prstGeom>
        </p:spPr>
      </p:pic>
      <p:sp>
        <p:nvSpPr>
          <p:cNvPr id="7" name="Freeform: Shape 13">
            <a:extLst>
              <a:ext uri="{FF2B5EF4-FFF2-40B4-BE49-F238E27FC236}"/>
            </a:extLst>
          </p:cNvPr>
          <p:cNvSpPr/>
          <p:nvPr/>
        </p:nvSpPr>
        <p:spPr>
          <a:xfrm>
            <a:off x="573928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8415" y="808956"/>
            <a:ext cx="5544844" cy="3775213"/>
          </a:xfrm>
          <a:prstGeom prst="rect">
            <a:avLst/>
          </a:prstGeom>
        </p:spPr>
      </p:pic>
      <p:sp>
        <p:nvSpPr>
          <p:cNvPr id="8" name="Freeform: Shape 15">
            <a:extLst>
              <a:ext uri="{FF2B5EF4-FFF2-40B4-BE49-F238E27FC236}"/>
            </a:extLst>
          </p:cNvPr>
          <p:cNvSpPr/>
          <p:nvPr/>
        </p:nvSpPr>
        <p:spPr>
          <a:xfrm>
            <a:off x="12192072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" name="Picture 16" descr="Picture 16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8094" y="808956"/>
            <a:ext cx="5544845" cy="3775213"/>
          </a:xfrm>
          <a:prstGeom prst="rect">
            <a:avLst/>
          </a:prstGeom>
        </p:spPr>
      </p:pic>
      <p:sp>
        <p:nvSpPr>
          <p:cNvPr id="9" name="Freeform: Shape 17">
            <a:extLst>
              <a:ext uri="{FF2B5EF4-FFF2-40B4-BE49-F238E27FC236}"/>
            </a:extLst>
          </p:cNvPr>
          <p:cNvSpPr/>
          <p:nvPr/>
        </p:nvSpPr>
        <p:spPr>
          <a:xfrm>
            <a:off x="6381751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TextBox 18"/>
          <p:cNvSpPr txBox="1"/>
          <p:nvPr/>
        </p:nvSpPr>
        <p:spPr>
          <a:xfrm>
            <a:off x="807259" y="4659627"/>
            <a:ext cx="4952297" cy="44262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Institutional</a:t>
            </a:r>
            <a:endParaRPr sz="4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Investors Embrace</a:t>
            </a:r>
            <a:endParaRPr sz="4500" dirty="0"/>
          </a:p>
          <a:p>
            <a:pPr marL="63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Cryptocurrency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sz="1900" dirty="0"/>
          </a:p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Explore Now</a:t>
            </a:r>
            <a:endParaRPr sz="1900" dirty="0"/>
          </a:p>
        </p:txBody>
      </p:sp>
      <p:sp>
        <p:nvSpPr>
          <p:cNvPr id="19" name="TextBox 19"/>
          <p:cNvSpPr txBox="1"/>
          <p:nvPr/>
        </p:nvSpPr>
        <p:spPr>
          <a:xfrm>
            <a:off x="6571434" y="4583427"/>
            <a:ext cx="3950977" cy="45024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Tokenization is</a:t>
            </a:r>
            <a:endParaRPr sz="4500" dirty="0"/>
          </a:p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Transforming</a:t>
            </a:r>
            <a:endParaRPr sz="45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Investments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sz="1900" dirty="0"/>
          </a:p>
          <a:p>
            <a:pPr marL="76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Learn More</a:t>
            </a:r>
            <a:endParaRPr sz="1900" dirty="0"/>
          </a:p>
        </p:txBody>
      </p:sp>
      <p:sp>
        <p:nvSpPr>
          <p:cNvPr id="20" name="TextBox 20"/>
          <p:cNvSpPr txBox="1"/>
          <p:nvPr/>
        </p:nvSpPr>
        <p:spPr>
          <a:xfrm>
            <a:off x="12422411" y="4590796"/>
            <a:ext cx="5047952" cy="4493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DeFi Platforms are</a:t>
            </a:r>
            <a:endParaRPr sz="4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Redefining Finance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</a:pPr>
            <a:endParaRPr sz="19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Join the Revolution</a:t>
            </a:r>
            <a:endParaRPr sz="1900" dirty="0"/>
          </a:p>
        </p:txBody>
      </p:sp>
    </p:spTree>
    <p:extLst/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7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12192044" y="2120517"/>
            <a:ext cx="5524456" cy="7358747"/>
          </a:xfrm>
          <a:custGeom>
            <a:avLst/>
            <a:gdLst/>
            <a:ahLst/>
            <a:cxnLst/>
            <a:rect l="l" t="t" r="r" b="b"/>
            <a:pathLst>
              <a:path w="5524456" h="7358747">
                <a:moveTo>
                  <a:pt x="0" y="0"/>
                </a:moveTo>
                <a:lnTo>
                  <a:pt x="5524456" y="0"/>
                </a:lnTo>
                <a:lnTo>
                  <a:pt x="5524456" y="7358747"/>
                </a:lnTo>
                <a:lnTo>
                  <a:pt x="0" y="735874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6384177" y="2120517"/>
            <a:ext cx="5522072" cy="7355573"/>
          </a:xfrm>
          <a:custGeom>
            <a:avLst/>
            <a:gdLst/>
            <a:ahLst/>
            <a:cxnLst/>
            <a:rect l="l" t="t" r="r" b="b"/>
            <a:pathLst>
              <a:path w="5522072" h="7355573">
                <a:moveTo>
                  <a:pt x="0" y="0"/>
                </a:moveTo>
                <a:lnTo>
                  <a:pt x="5522072" y="0"/>
                </a:lnTo>
                <a:lnTo>
                  <a:pt x="5522072" y="7355573"/>
                </a:lnTo>
                <a:lnTo>
                  <a:pt x="0" y="735557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: Shape 11">
            <a:extLst>
              <a:ext uri="{FF2B5EF4-FFF2-40B4-BE49-F238E27FC236}"/>
            </a:extLst>
          </p:cNvPr>
          <p:cNvSpPr/>
          <p:nvPr/>
        </p:nvSpPr>
        <p:spPr>
          <a:xfrm>
            <a:off x="571499" y="2120517"/>
            <a:ext cx="5524500" cy="7358806"/>
          </a:xfrm>
          <a:custGeom>
            <a:avLst/>
            <a:gdLst/>
            <a:ahLst/>
            <a:cxnLst/>
            <a:rect l="l" t="t" r="r" b="b"/>
            <a:pathLst>
              <a:path w="5524500" h="7358806">
                <a:moveTo>
                  <a:pt x="0" y="0"/>
                </a:moveTo>
                <a:lnTo>
                  <a:pt x="5524500" y="0"/>
                </a:lnTo>
                <a:lnTo>
                  <a:pt x="5524500" y="7358806"/>
                </a:lnTo>
                <a:lnTo>
                  <a:pt x="0" y="7358806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0271" y="808956"/>
            <a:ext cx="5544845" cy="3775213"/>
          </a:xfrm>
          <a:prstGeom prst="rect">
            <a:avLst/>
          </a:prstGeom>
        </p:spPr>
      </p:pic>
      <p:sp>
        <p:nvSpPr>
          <p:cNvPr id="7" name="Freeform: Shape 13">
            <a:extLst>
              <a:ext uri="{FF2B5EF4-FFF2-40B4-BE49-F238E27FC236}"/>
            </a:extLst>
          </p:cNvPr>
          <p:cNvSpPr/>
          <p:nvPr/>
        </p:nvSpPr>
        <p:spPr>
          <a:xfrm>
            <a:off x="573928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8415" y="808956"/>
            <a:ext cx="5544844" cy="3775213"/>
          </a:xfrm>
          <a:prstGeom prst="rect">
            <a:avLst/>
          </a:prstGeom>
        </p:spPr>
      </p:pic>
      <p:sp>
        <p:nvSpPr>
          <p:cNvPr id="8" name="Freeform: Shape 15">
            <a:extLst>
              <a:ext uri="{FF2B5EF4-FFF2-40B4-BE49-F238E27FC236}"/>
            </a:extLst>
          </p:cNvPr>
          <p:cNvSpPr/>
          <p:nvPr/>
        </p:nvSpPr>
        <p:spPr>
          <a:xfrm>
            <a:off x="12192072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" name="Picture 16" descr="Picture 16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8094" y="808956"/>
            <a:ext cx="5544845" cy="3775213"/>
          </a:xfrm>
          <a:prstGeom prst="rect">
            <a:avLst/>
          </a:prstGeom>
        </p:spPr>
      </p:pic>
      <p:sp>
        <p:nvSpPr>
          <p:cNvPr id="9" name="Freeform: Shape 17">
            <a:extLst>
              <a:ext uri="{FF2B5EF4-FFF2-40B4-BE49-F238E27FC236}"/>
            </a:extLst>
          </p:cNvPr>
          <p:cNvSpPr/>
          <p:nvPr/>
        </p:nvSpPr>
        <p:spPr>
          <a:xfrm>
            <a:off x="6381751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TextBox 18"/>
          <p:cNvSpPr txBox="1"/>
          <p:nvPr/>
        </p:nvSpPr>
        <p:spPr>
          <a:xfrm>
            <a:off x="799540" y="4658174"/>
            <a:ext cx="5038797" cy="44276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Instant Global</a:t>
            </a:r>
            <a:endParaRPr sz="4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Transactions Made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Easy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sz="19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Learn More</a:t>
            </a:r>
            <a:endParaRPr sz="1900" dirty="0"/>
          </a:p>
        </p:txBody>
      </p:sp>
      <p:sp>
        <p:nvSpPr>
          <p:cNvPr id="19" name="TextBox 19"/>
          <p:cNvSpPr txBox="1"/>
          <p:nvPr/>
        </p:nvSpPr>
        <p:spPr>
          <a:xfrm>
            <a:off x="6607734" y="4583427"/>
            <a:ext cx="4823547" cy="45024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Financial Inclusion</a:t>
            </a:r>
            <a:endParaRPr sz="45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for Everyone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Everywhere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sz="19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Discover How</a:t>
            </a:r>
            <a:endParaRPr sz="1900" dirty="0"/>
          </a:p>
        </p:txBody>
      </p:sp>
      <p:sp>
        <p:nvSpPr>
          <p:cNvPr id="20" name="TextBox 20"/>
          <p:cNvSpPr txBox="1"/>
          <p:nvPr/>
        </p:nvSpPr>
        <p:spPr>
          <a:xfrm>
            <a:off x="12424429" y="4580914"/>
            <a:ext cx="4867651" cy="45049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Control Over Your</a:t>
            </a:r>
            <a:endParaRPr sz="4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Finances Securely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</a:pPr>
            <a:endParaRPr sz="19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Explore Now</a:t>
            </a:r>
            <a:endParaRPr sz="1900" dirty="0"/>
          </a:p>
        </p:txBody>
      </p:sp>
    </p:spTree>
    <p:extLst/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7" descr="Picture 7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308592">
            <a:off x="11540161" y="2037815"/>
            <a:ext cx="7218808" cy="9869463"/>
          </a:xfrm>
          <a:prstGeom prst="rect">
            <a:avLst/>
          </a:prstGeom>
        </p:spPr>
      </p:pic>
      <p:sp>
        <p:nvSpPr>
          <p:cNvPr id="4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821406" y="6428022"/>
            <a:ext cx="76200" cy="76199"/>
          </a:xfrm>
          <a:custGeom>
            <a:avLst/>
            <a:gdLst/>
            <a:ahLst/>
            <a:cxnLst/>
            <a:rect l="l" t="t" r="r" b="b"/>
            <a:pathLst>
              <a:path w="76200" h="76199">
                <a:moveTo>
                  <a:pt x="76200" y="38100"/>
                </a:moveTo>
                <a:cubicBezTo>
                  <a:pt x="76200" y="43152"/>
                  <a:pt x="75233" y="48012"/>
                  <a:pt x="73299" y="52680"/>
                </a:cubicBezTo>
                <a:cubicBezTo>
                  <a:pt x="71366" y="57348"/>
                  <a:pt x="68613" y="61468"/>
                  <a:pt x="65040" y="65040"/>
                </a:cubicBezTo>
                <a:cubicBezTo>
                  <a:pt x="61468" y="68613"/>
                  <a:pt x="57347" y="71366"/>
                  <a:pt x="52680" y="73299"/>
                </a:cubicBezTo>
                <a:cubicBezTo>
                  <a:pt x="48012" y="75233"/>
                  <a:pt x="43152" y="76199"/>
                  <a:pt x="38100" y="76199"/>
                </a:cubicBezTo>
                <a:cubicBezTo>
                  <a:pt x="33047" y="76199"/>
                  <a:pt x="28187" y="75233"/>
                  <a:pt x="23519" y="73299"/>
                </a:cubicBezTo>
                <a:cubicBezTo>
                  <a:pt x="18851" y="71366"/>
                  <a:pt x="14731" y="68613"/>
                  <a:pt x="11159" y="65040"/>
                </a:cubicBezTo>
                <a:cubicBezTo>
                  <a:pt x="7586" y="61468"/>
                  <a:pt x="4833" y="57348"/>
                  <a:pt x="2900" y="52680"/>
                </a:cubicBezTo>
                <a:cubicBezTo>
                  <a:pt x="966" y="48012"/>
                  <a:pt x="0" y="43152"/>
                  <a:pt x="0" y="38100"/>
                </a:cubicBezTo>
                <a:cubicBezTo>
                  <a:pt x="0" y="33047"/>
                  <a:pt x="966" y="28187"/>
                  <a:pt x="2900" y="23519"/>
                </a:cubicBezTo>
                <a:cubicBezTo>
                  <a:pt x="4833" y="18851"/>
                  <a:pt x="7586" y="14731"/>
                  <a:pt x="11159" y="11159"/>
                </a:cubicBezTo>
                <a:cubicBezTo>
                  <a:pt x="14731" y="7586"/>
                  <a:pt x="18851" y="4833"/>
                  <a:pt x="23519" y="2900"/>
                </a:cubicBezTo>
                <a:cubicBezTo>
                  <a:pt x="28187" y="966"/>
                  <a:pt x="33047" y="0"/>
                  <a:pt x="38100" y="0"/>
                </a:cubicBezTo>
                <a:cubicBezTo>
                  <a:pt x="43152" y="0"/>
                  <a:pt x="48012" y="966"/>
                  <a:pt x="52680" y="2900"/>
                </a:cubicBezTo>
                <a:cubicBezTo>
                  <a:pt x="57347" y="4833"/>
                  <a:pt x="61468" y="7586"/>
                  <a:pt x="65040" y="11159"/>
                </a:cubicBezTo>
                <a:cubicBezTo>
                  <a:pt x="68613" y="14731"/>
                  <a:pt x="71366" y="18851"/>
                  <a:pt x="73299" y="23519"/>
                </a:cubicBezTo>
                <a:cubicBezTo>
                  <a:pt x="75233" y="28187"/>
                  <a:pt x="76200" y="33047"/>
                  <a:pt x="76200" y="38100"/>
                </a:cubicBez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DBE6F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821406" y="731384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43152"/>
                  <a:pt x="75233" y="48012"/>
                  <a:pt x="73299" y="52680"/>
                </a:cubicBezTo>
                <a:cubicBezTo>
                  <a:pt x="71366" y="57348"/>
                  <a:pt x="68613" y="61468"/>
                  <a:pt x="65040" y="65040"/>
                </a:cubicBezTo>
                <a:cubicBezTo>
                  <a:pt x="61468" y="68613"/>
                  <a:pt x="57347" y="71366"/>
                  <a:pt x="52680" y="73300"/>
                </a:cubicBezTo>
                <a:cubicBezTo>
                  <a:pt x="48012" y="75233"/>
                  <a:pt x="43152" y="76200"/>
                  <a:pt x="38100" y="76200"/>
                </a:cubicBezTo>
                <a:cubicBezTo>
                  <a:pt x="33047" y="76200"/>
                  <a:pt x="28187" y="75233"/>
                  <a:pt x="23519" y="73300"/>
                </a:cubicBezTo>
                <a:cubicBezTo>
                  <a:pt x="18851" y="71366"/>
                  <a:pt x="14731" y="68613"/>
                  <a:pt x="11159" y="65040"/>
                </a:cubicBezTo>
                <a:cubicBezTo>
                  <a:pt x="7586" y="61468"/>
                  <a:pt x="4833" y="57348"/>
                  <a:pt x="2900" y="52680"/>
                </a:cubicBezTo>
                <a:cubicBezTo>
                  <a:pt x="966" y="48012"/>
                  <a:pt x="0" y="43152"/>
                  <a:pt x="0" y="38100"/>
                </a:cubicBezTo>
                <a:cubicBezTo>
                  <a:pt x="0" y="33047"/>
                  <a:pt x="966" y="28187"/>
                  <a:pt x="2900" y="23520"/>
                </a:cubicBezTo>
                <a:cubicBezTo>
                  <a:pt x="4833" y="18852"/>
                  <a:pt x="7586" y="14732"/>
                  <a:pt x="11159" y="11159"/>
                </a:cubicBezTo>
                <a:cubicBezTo>
                  <a:pt x="14731" y="7587"/>
                  <a:pt x="18851" y="4833"/>
                  <a:pt x="23519" y="2900"/>
                </a:cubicBezTo>
                <a:cubicBezTo>
                  <a:pt x="28187" y="967"/>
                  <a:pt x="33047" y="0"/>
                  <a:pt x="38100" y="0"/>
                </a:cubicBezTo>
                <a:cubicBezTo>
                  <a:pt x="43152" y="0"/>
                  <a:pt x="48012" y="967"/>
                  <a:pt x="52680" y="2900"/>
                </a:cubicBezTo>
                <a:cubicBezTo>
                  <a:pt x="57347" y="4833"/>
                  <a:pt x="61468" y="7587"/>
                  <a:pt x="65040" y="11159"/>
                </a:cubicBezTo>
                <a:cubicBezTo>
                  <a:pt x="68613" y="14732"/>
                  <a:pt x="71366" y="18852"/>
                  <a:pt x="73299" y="23520"/>
                </a:cubicBezTo>
                <a:cubicBezTo>
                  <a:pt x="75233" y="28187"/>
                  <a:pt x="76200" y="33047"/>
                  <a:pt x="76200" y="38100"/>
                </a:cubicBez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DBE6F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5131468" y="6428022"/>
            <a:ext cx="76200" cy="76199"/>
          </a:xfrm>
          <a:custGeom>
            <a:avLst/>
            <a:gdLst/>
            <a:ahLst/>
            <a:cxnLst/>
            <a:rect l="l" t="t" r="r" b="b"/>
            <a:pathLst>
              <a:path w="76200" h="76199">
                <a:moveTo>
                  <a:pt x="76200" y="38100"/>
                </a:moveTo>
                <a:cubicBezTo>
                  <a:pt x="76200" y="43152"/>
                  <a:pt x="75233" y="48012"/>
                  <a:pt x="73299" y="52680"/>
                </a:cubicBezTo>
                <a:cubicBezTo>
                  <a:pt x="71366" y="57348"/>
                  <a:pt x="68613" y="61468"/>
                  <a:pt x="65040" y="65040"/>
                </a:cubicBezTo>
                <a:cubicBezTo>
                  <a:pt x="61468" y="68613"/>
                  <a:pt x="57348" y="71366"/>
                  <a:pt x="52680" y="73299"/>
                </a:cubicBezTo>
                <a:cubicBezTo>
                  <a:pt x="48012" y="75233"/>
                  <a:pt x="43152" y="76199"/>
                  <a:pt x="38100" y="76199"/>
                </a:cubicBezTo>
                <a:cubicBezTo>
                  <a:pt x="33047" y="76199"/>
                  <a:pt x="28187" y="75233"/>
                  <a:pt x="23519" y="73299"/>
                </a:cubicBezTo>
                <a:cubicBezTo>
                  <a:pt x="18851" y="71366"/>
                  <a:pt x="14731" y="68613"/>
                  <a:pt x="11159" y="65040"/>
                </a:cubicBezTo>
                <a:cubicBezTo>
                  <a:pt x="7586" y="61468"/>
                  <a:pt x="4833" y="57348"/>
                  <a:pt x="2900" y="52680"/>
                </a:cubicBezTo>
                <a:cubicBezTo>
                  <a:pt x="966" y="48012"/>
                  <a:pt x="0" y="43152"/>
                  <a:pt x="0" y="38100"/>
                </a:cubicBezTo>
                <a:cubicBezTo>
                  <a:pt x="0" y="33047"/>
                  <a:pt x="966" y="28187"/>
                  <a:pt x="2900" y="23519"/>
                </a:cubicBezTo>
                <a:cubicBezTo>
                  <a:pt x="4833" y="18851"/>
                  <a:pt x="7586" y="14731"/>
                  <a:pt x="11159" y="11159"/>
                </a:cubicBezTo>
                <a:cubicBezTo>
                  <a:pt x="14731" y="7586"/>
                  <a:pt x="18851" y="4833"/>
                  <a:pt x="23519" y="2900"/>
                </a:cubicBezTo>
                <a:cubicBezTo>
                  <a:pt x="28187" y="966"/>
                  <a:pt x="33047" y="0"/>
                  <a:pt x="38100" y="0"/>
                </a:cubicBezTo>
                <a:cubicBezTo>
                  <a:pt x="43152" y="0"/>
                  <a:pt x="48012" y="966"/>
                  <a:pt x="52680" y="2900"/>
                </a:cubicBezTo>
                <a:cubicBezTo>
                  <a:pt x="57348" y="4833"/>
                  <a:pt x="61468" y="7586"/>
                  <a:pt x="65040" y="11159"/>
                </a:cubicBezTo>
                <a:cubicBezTo>
                  <a:pt x="68613" y="14731"/>
                  <a:pt x="71366" y="18851"/>
                  <a:pt x="73299" y="23519"/>
                </a:cubicBezTo>
                <a:cubicBezTo>
                  <a:pt x="75233" y="28187"/>
                  <a:pt x="76200" y="33047"/>
                  <a:pt x="76200" y="38100"/>
                </a:cubicBez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DBE6F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1"/>
          <p:cNvSpPr txBox="1"/>
          <p:nvPr/>
        </p:nvSpPr>
        <p:spPr>
          <a:xfrm>
            <a:off x="495724" y="529665"/>
            <a:ext cx="2619067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CRYPTOCURRENCY INSIGHTS</a:t>
            </a:r>
            <a:endParaRPr sz="1400" dirty="0"/>
          </a:p>
        </p:txBody>
      </p:sp>
      <p:sp>
        <p:nvSpPr>
          <p:cNvPr id="12" name="TextBox 12"/>
          <p:cNvSpPr txBox="1"/>
          <p:nvPr/>
        </p:nvSpPr>
        <p:spPr>
          <a:xfrm>
            <a:off x="4881274" y="529665"/>
            <a:ext cx="2118173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BANKING COMPARISON</a:t>
            </a:r>
            <a:endParaRPr sz="1400" dirty="0"/>
          </a:p>
        </p:txBody>
      </p:sp>
      <p:sp>
        <p:nvSpPr>
          <p:cNvPr id="13" name="TextBox 13"/>
          <p:cNvSpPr txBox="1"/>
          <p:nvPr/>
        </p:nvSpPr>
        <p:spPr>
          <a:xfrm>
            <a:off x="15581246" y="529665"/>
            <a:ext cx="2271214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 VS TRADITIONAL</a:t>
            </a:r>
            <a:endParaRPr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538066" y="2287706"/>
            <a:ext cx="8982572" cy="58024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This slide highlights the strengths</a:t>
            </a:r>
            <a:endParaRPr sz="4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and weaknesses of cryptocurrency</a:t>
            </a:r>
            <a:endParaRPr sz="45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compared to traditional banking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systems.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endParaRPr sz="20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Advantages                                        Disadvantages</a:t>
            </a:r>
            <a:endParaRPr sz="2000" dirty="0"/>
          </a:p>
          <a:p>
            <a:pPr marL="482600" indent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Faster international  transfers,             Traditional banks offer  stability</a:t>
            </a:r>
            <a:endParaRPr sz="2000" dirty="0"/>
          </a:p>
          <a:p>
            <a:pPr marL="508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allowing for quick access to               and consumer  protection,</a:t>
            </a:r>
            <a:endParaRPr sz="2000" dirty="0"/>
          </a:p>
          <a:p>
            <a:pPr marL="508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funds across borders.                         which are not guaranteed in</a:t>
            </a:r>
            <a:endParaRPr sz="2000" dirty="0"/>
          </a:p>
          <a:p>
            <a:pPr marL="482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Lower remittance  fees than                crypto  transactions.</a:t>
            </a:r>
            <a:endParaRPr sz="2000" dirty="0"/>
          </a:p>
          <a:p>
            <a:pPr marL="482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banks, making it more</a:t>
            </a:r>
            <a:endParaRPr sz="2000" dirty="0"/>
          </a:p>
          <a:p>
            <a:pPr marL="520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affordable for users.</a:t>
            </a:r>
            <a:endParaRPr sz="2000" dirty="0"/>
          </a:p>
        </p:txBody>
      </p:sp>
    </p:spTree>
    <p:extLst/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A2347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reeform: Shape 6">
            <a:extLst>
              <a:ext uri="{FF2B5EF4-FFF2-40B4-BE49-F238E27FC236}"/>
            </a:extLst>
          </p:cNvPr>
          <p:cNvSpPr/>
          <p:nvPr/>
        </p:nvSpPr>
        <p:spPr>
          <a:xfrm>
            <a:off x="571499" y="7277066"/>
            <a:ext cx="8429740" cy="2438433"/>
          </a:xfrm>
          <a:custGeom>
            <a:avLst/>
            <a:gdLst/>
            <a:ahLst/>
            <a:cxnLst/>
            <a:rect l="l" t="t" r="r" b="b"/>
            <a:pathLst>
              <a:path w="8429740" h="2438433">
                <a:moveTo>
                  <a:pt x="0" y="0"/>
                </a:moveTo>
                <a:lnTo>
                  <a:pt x="8429740" y="0"/>
                </a:lnTo>
                <a:lnTo>
                  <a:pt x="8429740" y="2438433"/>
                </a:lnTo>
                <a:lnTo>
                  <a:pt x="0" y="243843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7">
            <a:extLst>
              <a:ext uri="{FF2B5EF4-FFF2-40B4-BE49-F238E27FC236}"/>
            </a:extLst>
          </p:cNvPr>
          <p:cNvSpPr/>
          <p:nvPr/>
        </p:nvSpPr>
        <p:spPr>
          <a:xfrm>
            <a:off x="571499" y="4556646"/>
            <a:ext cx="8429740" cy="2438433"/>
          </a:xfrm>
          <a:custGeom>
            <a:avLst/>
            <a:gdLst/>
            <a:ahLst/>
            <a:cxnLst/>
            <a:rect l="l" t="t" r="r" b="b"/>
            <a:pathLst>
              <a:path w="8429740" h="2438433">
                <a:moveTo>
                  <a:pt x="0" y="0"/>
                </a:moveTo>
                <a:lnTo>
                  <a:pt x="8429740" y="0"/>
                </a:lnTo>
                <a:lnTo>
                  <a:pt x="8429740" y="2438433"/>
                </a:lnTo>
                <a:lnTo>
                  <a:pt x="0" y="243843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9286875" y="7277066"/>
            <a:ext cx="8429740" cy="2438433"/>
          </a:xfrm>
          <a:custGeom>
            <a:avLst/>
            <a:gdLst/>
            <a:ahLst/>
            <a:cxnLst/>
            <a:rect l="l" t="t" r="r" b="b"/>
            <a:pathLst>
              <a:path w="8429740" h="2438433">
                <a:moveTo>
                  <a:pt x="0" y="0"/>
                </a:moveTo>
                <a:lnTo>
                  <a:pt x="8429740" y="0"/>
                </a:lnTo>
                <a:lnTo>
                  <a:pt x="8429740" y="2438433"/>
                </a:lnTo>
                <a:lnTo>
                  <a:pt x="0" y="243843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9286875" y="4556646"/>
            <a:ext cx="8429740" cy="2438433"/>
          </a:xfrm>
          <a:custGeom>
            <a:avLst/>
            <a:gdLst/>
            <a:ahLst/>
            <a:cxnLst/>
            <a:rect l="l" t="t" r="r" b="b"/>
            <a:pathLst>
              <a:path w="8429740" h="2438433">
                <a:moveTo>
                  <a:pt x="0" y="0"/>
                </a:moveTo>
                <a:lnTo>
                  <a:pt x="8429740" y="0"/>
                </a:lnTo>
                <a:lnTo>
                  <a:pt x="8429740" y="2438433"/>
                </a:lnTo>
                <a:lnTo>
                  <a:pt x="0" y="243843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4462A6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10"/>
          <p:cNvSpPr txBox="1"/>
          <p:nvPr/>
        </p:nvSpPr>
        <p:spPr>
          <a:xfrm>
            <a:off x="427948" y="325927"/>
            <a:ext cx="14766106" cy="25091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Comparing Bank and Crypto</a:t>
            </a:r>
            <a:endParaRPr sz="9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Transfers</a:t>
            </a:r>
            <a:endParaRPr sz="9000" dirty="0"/>
          </a:p>
        </p:txBody>
      </p:sp>
      <p:sp>
        <p:nvSpPr>
          <p:cNvPr id="11" name="TextBox 11"/>
          <p:cNvSpPr txBox="1"/>
          <p:nvPr/>
        </p:nvSpPr>
        <p:spPr>
          <a:xfrm>
            <a:off x="883397" y="4850037"/>
            <a:ext cx="6732404" cy="42251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Bank Transfer</a:t>
            </a:r>
            <a:endParaRPr sz="4500" dirty="0"/>
          </a:p>
          <a:p>
            <a:pPr marL="2540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Slow international  transfers can take several days, with</a:t>
            </a:r>
            <a:endParaRPr sz="2000" dirty="0"/>
          </a:p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high fees impacting overall costs significantly.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100"/>
              </a:spcAft>
            </a:pPr>
            <a:endParaRPr sz="45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Accessibility</a:t>
            </a:r>
            <a:endParaRPr sz="4500" dirty="0"/>
          </a:p>
          <a:p>
            <a:pPr marL="0" indent="0" algn="r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Banks restrict  access based on location and regulations,</a:t>
            </a:r>
            <a:endParaRPr sz="2000" dirty="0"/>
          </a:p>
          <a:p>
            <a:pPr marL="38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while crypto  provides global access to all users.</a:t>
            </a:r>
            <a:endParaRPr sz="2000" dirty="0"/>
          </a:p>
        </p:txBody>
      </p:sp>
      <p:sp>
        <p:nvSpPr>
          <p:cNvPr id="12" name="TextBox 12"/>
          <p:cNvSpPr txBox="1"/>
          <p:nvPr/>
        </p:nvSpPr>
        <p:spPr>
          <a:xfrm>
            <a:off x="9709302" y="4849128"/>
            <a:ext cx="6178609" cy="45283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3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 Transfer</a:t>
            </a:r>
            <a:endParaRPr sz="4500" dirty="0"/>
          </a:p>
          <a:p>
            <a:pPr marL="5080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Instant  transfers occur within seconds, offering</a:t>
            </a:r>
            <a:endParaRPr sz="20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minimal fees, making it ideal for remittances  and</a:t>
            </a:r>
            <a:endParaRPr sz="2000" dirty="0"/>
          </a:p>
          <a:p>
            <a:pPr marL="63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freelancers.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Transparency</a:t>
            </a:r>
            <a:endParaRPr sz="4500" dirty="0"/>
          </a:p>
          <a:p>
            <a:pPr marL="63500" indent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Crypto  transactions are publicly  recorded on the</a:t>
            </a:r>
            <a:endParaRPr sz="20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blockchain, ensuring transparency and trust among</a:t>
            </a:r>
            <a:endParaRPr sz="2000" dirty="0"/>
          </a:p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users.</a:t>
            </a:r>
            <a:endParaRPr sz="2000" dirty="0"/>
          </a:p>
        </p:txBody>
      </p:sp>
    </p:spTree>
    <p:extLst/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7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12192044" y="2120517"/>
            <a:ext cx="5524456" cy="7358747"/>
          </a:xfrm>
          <a:custGeom>
            <a:avLst/>
            <a:gdLst/>
            <a:ahLst/>
            <a:cxnLst/>
            <a:rect l="l" t="t" r="r" b="b"/>
            <a:pathLst>
              <a:path w="5524456" h="7358747">
                <a:moveTo>
                  <a:pt x="0" y="0"/>
                </a:moveTo>
                <a:lnTo>
                  <a:pt x="5524456" y="0"/>
                </a:lnTo>
                <a:lnTo>
                  <a:pt x="5524456" y="7358747"/>
                </a:lnTo>
                <a:lnTo>
                  <a:pt x="0" y="735874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6384177" y="2120517"/>
            <a:ext cx="5522072" cy="7355573"/>
          </a:xfrm>
          <a:custGeom>
            <a:avLst/>
            <a:gdLst/>
            <a:ahLst/>
            <a:cxnLst/>
            <a:rect l="l" t="t" r="r" b="b"/>
            <a:pathLst>
              <a:path w="5522072" h="7355573">
                <a:moveTo>
                  <a:pt x="0" y="0"/>
                </a:moveTo>
                <a:lnTo>
                  <a:pt x="5522072" y="0"/>
                </a:lnTo>
                <a:lnTo>
                  <a:pt x="5522072" y="7355573"/>
                </a:lnTo>
                <a:lnTo>
                  <a:pt x="0" y="7355573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: Shape 11">
            <a:extLst>
              <a:ext uri="{FF2B5EF4-FFF2-40B4-BE49-F238E27FC236}"/>
            </a:extLst>
          </p:cNvPr>
          <p:cNvSpPr/>
          <p:nvPr/>
        </p:nvSpPr>
        <p:spPr>
          <a:xfrm>
            <a:off x="571499" y="2120517"/>
            <a:ext cx="5524500" cy="7358806"/>
          </a:xfrm>
          <a:custGeom>
            <a:avLst/>
            <a:gdLst/>
            <a:ahLst/>
            <a:cxnLst/>
            <a:rect l="l" t="t" r="r" b="b"/>
            <a:pathLst>
              <a:path w="5524500" h="7358806">
                <a:moveTo>
                  <a:pt x="0" y="0"/>
                </a:moveTo>
                <a:lnTo>
                  <a:pt x="5524500" y="0"/>
                </a:lnTo>
                <a:lnTo>
                  <a:pt x="5524500" y="7358806"/>
                </a:lnTo>
                <a:lnTo>
                  <a:pt x="0" y="7358806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0271" y="808956"/>
            <a:ext cx="5544845" cy="3775213"/>
          </a:xfrm>
          <a:prstGeom prst="rect">
            <a:avLst/>
          </a:prstGeom>
        </p:spPr>
      </p:pic>
      <p:sp>
        <p:nvSpPr>
          <p:cNvPr id="7" name="Freeform: Shape 13">
            <a:extLst>
              <a:ext uri="{FF2B5EF4-FFF2-40B4-BE49-F238E27FC236}"/>
            </a:extLst>
          </p:cNvPr>
          <p:cNvSpPr/>
          <p:nvPr/>
        </p:nvSpPr>
        <p:spPr>
          <a:xfrm>
            <a:off x="573928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8415" y="808956"/>
            <a:ext cx="5544844" cy="3775213"/>
          </a:xfrm>
          <a:prstGeom prst="rect">
            <a:avLst/>
          </a:prstGeom>
        </p:spPr>
      </p:pic>
      <p:sp>
        <p:nvSpPr>
          <p:cNvPr id="8" name="Freeform: Shape 15">
            <a:extLst>
              <a:ext uri="{FF2B5EF4-FFF2-40B4-BE49-F238E27FC236}"/>
            </a:extLst>
          </p:cNvPr>
          <p:cNvSpPr/>
          <p:nvPr/>
        </p:nvSpPr>
        <p:spPr>
          <a:xfrm>
            <a:off x="12192072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" name="Picture 16" descr="Picture 16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8094" y="808956"/>
            <a:ext cx="5544845" cy="3775213"/>
          </a:xfrm>
          <a:prstGeom prst="rect">
            <a:avLst/>
          </a:prstGeom>
        </p:spPr>
      </p:pic>
      <p:sp>
        <p:nvSpPr>
          <p:cNvPr id="9" name="Freeform: Shape 17">
            <a:extLst>
              <a:ext uri="{FF2B5EF4-FFF2-40B4-BE49-F238E27FC236}"/>
            </a:extLst>
          </p:cNvPr>
          <p:cNvSpPr/>
          <p:nvPr/>
        </p:nvSpPr>
        <p:spPr>
          <a:xfrm>
            <a:off x="6381751" y="4254177"/>
            <a:ext cx="5522222" cy="329992"/>
          </a:xfrm>
          <a:custGeom>
            <a:avLst/>
            <a:gdLst/>
            <a:ahLst/>
            <a:cxnLst/>
            <a:rect l="l" t="t" r="r" b="b"/>
            <a:pathLst>
              <a:path w="5522222" h="329992">
                <a:moveTo>
                  <a:pt x="0" y="0"/>
                </a:moveTo>
                <a:lnTo>
                  <a:pt x="5522222" y="0"/>
                </a:lnTo>
                <a:lnTo>
                  <a:pt x="5522222" y="329992"/>
                </a:lnTo>
                <a:lnTo>
                  <a:pt x="0" y="329992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62A58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TextBox 18"/>
          <p:cNvSpPr txBox="1"/>
          <p:nvPr/>
        </p:nvSpPr>
        <p:spPr>
          <a:xfrm>
            <a:off x="825082" y="4662336"/>
            <a:ext cx="5027615" cy="44219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High price volatility</a:t>
            </a:r>
            <a:endParaRPr sz="4500" dirty="0"/>
          </a:p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and market</a:t>
            </a:r>
            <a:endParaRPr sz="4500" dirty="0"/>
          </a:p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fluctuations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sz="1900" dirty="0"/>
          </a:p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Stay informed</a:t>
            </a:r>
            <a:endParaRPr sz="1900" dirty="0"/>
          </a:p>
        </p:txBody>
      </p:sp>
      <p:sp>
        <p:nvSpPr>
          <p:cNvPr id="19" name="TextBox 19"/>
          <p:cNvSpPr txBox="1"/>
          <p:nvPr/>
        </p:nvSpPr>
        <p:spPr>
          <a:xfrm>
            <a:off x="6642816" y="4586317"/>
            <a:ext cx="5102514" cy="44995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Growing risks of</a:t>
            </a:r>
            <a:endParaRPr sz="45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scams and hacking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</a:pPr>
            <a:endParaRPr sz="1900" dirty="0"/>
          </a:p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Protect yourself</a:t>
            </a:r>
            <a:endParaRPr sz="1900" dirty="0"/>
          </a:p>
        </p:txBody>
      </p:sp>
      <p:sp>
        <p:nvSpPr>
          <p:cNvPr id="20" name="TextBox 20"/>
          <p:cNvSpPr txBox="1"/>
          <p:nvPr/>
        </p:nvSpPr>
        <p:spPr>
          <a:xfrm>
            <a:off x="12408436" y="4587874"/>
            <a:ext cx="3501177" cy="44963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Regulatory</a:t>
            </a:r>
            <a:endParaRPr sz="4500" dirty="0"/>
          </a:p>
          <a:p>
            <a:pPr marL="76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uncertainty</a:t>
            </a:r>
            <a:endParaRPr sz="45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affecting the</a:t>
            </a:r>
            <a:endParaRPr sz="4500" dirty="0"/>
          </a:p>
          <a:p>
            <a:pPr marL="63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industry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dirty="0"/>
          </a:p>
          <a:p>
            <a:pPr marL="76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Understand  the landscape</a:t>
            </a:r>
            <a:endParaRPr sz="1900" dirty="0"/>
          </a:p>
        </p:txBody>
      </p:sp>
    </p:spTree>
    <p:extLst/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7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7865581" y="578333"/>
            <a:ext cx="9627979" cy="4425067"/>
          </a:xfrm>
          <a:custGeom>
            <a:avLst/>
            <a:gdLst/>
            <a:ahLst/>
            <a:cxnLst/>
            <a:rect l="l" t="t" r="r" b="b"/>
            <a:pathLst>
              <a:path w="9627979" h="4425067">
                <a:moveTo>
                  <a:pt x="0" y="0"/>
                </a:moveTo>
                <a:lnTo>
                  <a:pt x="9627979" y="0"/>
                </a:lnTo>
                <a:lnTo>
                  <a:pt x="9627979" y="4425067"/>
                </a:lnTo>
                <a:lnTo>
                  <a:pt x="0" y="442506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DBE6F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7865581" y="5290432"/>
            <a:ext cx="9627979" cy="4425067"/>
          </a:xfrm>
          <a:custGeom>
            <a:avLst/>
            <a:gdLst/>
            <a:ahLst/>
            <a:cxnLst/>
            <a:rect l="l" t="t" r="r" b="b"/>
            <a:pathLst>
              <a:path w="9627979" h="4425067">
                <a:moveTo>
                  <a:pt x="0" y="0"/>
                </a:moveTo>
                <a:lnTo>
                  <a:pt x="9627979" y="0"/>
                </a:lnTo>
                <a:lnTo>
                  <a:pt x="9627979" y="4425067"/>
                </a:lnTo>
                <a:lnTo>
                  <a:pt x="0" y="4425067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DBE6F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70878" y="1028700"/>
            <a:ext cx="4929213" cy="3320733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0878" y="5778677"/>
            <a:ext cx="4929213" cy="332073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39863" y="573622"/>
            <a:ext cx="6498246" cy="34478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Practical</a:t>
            </a:r>
            <a:endParaRPr sz="85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Applications</a:t>
            </a:r>
            <a:endParaRPr sz="85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of Crypto</a:t>
            </a:r>
            <a:endParaRPr sz="8500" dirty="0"/>
          </a:p>
        </p:txBody>
      </p:sp>
      <p:sp>
        <p:nvSpPr>
          <p:cNvPr id="13" name="TextBox 13"/>
          <p:cNvSpPr txBox="1"/>
          <p:nvPr/>
        </p:nvSpPr>
        <p:spPr>
          <a:xfrm>
            <a:off x="8397167" y="1031874"/>
            <a:ext cx="3356474" cy="65808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Trading</a:t>
            </a:r>
            <a:endParaRPr sz="4500" dirty="0"/>
          </a:p>
          <a:p>
            <a:pPr marL="12700" indent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Engaging in buying and</a:t>
            </a:r>
            <a:endParaRPr sz="20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selling  cryptocurrencies  for</a:t>
            </a:r>
            <a:endParaRPr sz="2000" dirty="0"/>
          </a:p>
          <a:p>
            <a:pPr marL="50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profit.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Payments</a:t>
            </a:r>
            <a:endParaRPr sz="4500" dirty="0"/>
          </a:p>
          <a:p>
            <a:pPr marL="12700" indent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Using  cryptocurrencies  for</a:t>
            </a:r>
            <a:endParaRPr sz="2000" dirty="0"/>
          </a:p>
          <a:p>
            <a:pPr marL="25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everyday purchases and</a:t>
            </a:r>
            <a:endParaRPr sz="2000" dirty="0"/>
          </a:p>
          <a:p>
            <a:pPr marL="63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strike="noStrike" dirty="0">
                <a:solidFill>
                  <a:srgbClr val="4462A6"/>
                </a:solidFill>
                <a:latin typeface="Liberation Sans"/>
                <a:cs typeface="Liberation Sans"/>
              </a:rPr>
              <a:t>remittances.</a:t>
            </a:r>
            <a:endParaRPr sz="2000" dirty="0"/>
          </a:p>
        </p:txBody>
      </p:sp>
    </p:spTree>
    <p:extLst/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1A2347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>
          <a:xfrm>
            <a:off x="2354716" y="1558824"/>
            <a:ext cx="13977080" cy="46775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Future Perspectives</a:t>
            </a:r>
            <a:endParaRPr sz="4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0"/>
              </a:spcAft>
            </a:pPr>
            <a:endParaRPr sz="60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The future of cryptocurrency looks</a:t>
            </a:r>
            <a:endParaRPr sz="6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promising with</a:t>
            </a:r>
            <a:r>
              <a:rPr sz="6000" b="1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increased regulation</a:t>
            </a: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 and</a:t>
            </a:r>
            <a:endParaRPr sz="6000" dirty="0"/>
          </a:p>
          <a:p>
            <a:pPr marL="8509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integration into mainstream finance.</a:t>
            </a:r>
            <a:endParaRPr sz="6000" dirty="0"/>
          </a:p>
        </p:txBody>
      </p:sp>
    </p:spTree>
    <p:extLst/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reeform: Shape 5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ln w="3175">
            <a:noFill/>
          </a:ln>
        </p:spPr>
        <p:style>
          <a:lnRef idx="2">
            <a:scrgbClr r="0" g="0" b="0"/>
          </a:lnRef>
          <a:fillRef idx="1">
            <a:srgbClr val="0A0F2E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>
          <a:xfrm>
            <a:off x="3505223" y="1208415"/>
            <a:ext cx="12235140" cy="49166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1651000" algn="l">
              <a:lnSpc>
                <a:spcPct val="127917"/>
              </a:lnSpc>
              <a:spcBef>
                <a:spcPts val="0"/>
              </a:spcBef>
              <a:spcAft>
                <a:spcPts val="0"/>
              </a:spcAft>
            </a:pPr>
            <a:r>
              <a:rPr sz="13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Thank you!</a:t>
            </a:r>
            <a:r>
              <a:rPr sz="130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3000" b="0" i="0" u="none" strike="noStrike" dirty="0">
                <a:solidFill>
                  <a:srgbClr val="DBE6F1"/>
                </a:solidFill>
                <a:latin typeface="Liberation Sans"/>
                <a:cs typeface="Liberation Sans"/>
              </a:rPr>
              <a:t>Any Questions?</a:t>
            </a:r>
            <a:endParaRPr sz="13000" dirty="0"/>
          </a:p>
        </p:txBody>
      </p:sp>
    </p:spTree>
    <p:extLst/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Custom</PresentationFormat>
  <Paragraphs>204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Cryptocurrency in 2026</dc:title>
  <dc:creator>Hannan Ahmed</dc:creator>
  <cp:keywords>DAHBawRuUzA,BAGYN-kMu_8,0</cp:keywords>
  <cp:lastModifiedBy>falcon</cp:lastModifiedBy>
  <cp:revision>1</cp:revision>
  <dcterms:modified xsi:type="dcterms:W3CDTF">2026-02-15T19:52:44Z</dcterms:modified>
</cp:coreProperties>
</file>